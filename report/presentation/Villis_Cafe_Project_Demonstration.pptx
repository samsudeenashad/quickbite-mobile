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0:00–0:30</a:t>
            </a:r>
          </a:p>
          <a:p/>
          <a:p>
            <a:r>
              <a:t>Good morning/afternoon. This presentation demonstrates Villi’s Cafe, an Android ordering application developed with Flutter. The first ten minutes explain the problem, objectives, architecture, object-oriented design, and the working system. The final five minutes cover the individual contribution, technology decisions, and risk management.</a:t>
            </a:r>
          </a:p>
          <a:p/>
          <a:p>
            <a:r>
              <a:t>Do not spend time reading the title slide. Move directly to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0:30–1:30</a:t>
            </a:r>
          </a:p>
          <a:p/>
          <a:p>
            <a:r>
              <a:t>The identified problem was not simply “the café needs an app.” The real issue was a fragmented customer journey. Customers could not browse comfortably before arrival, understand a total, or keep promotions and order follow-up in one place. Commercial delivery platforms solve this at marketplace scale, but they introduce fees, remote infrastructure, and operational complexity that did not fit a small undergraduate project.</a:t>
            </a:r>
          </a:p>
          <a:p/>
          <a:p>
            <a:r>
              <a:t>The solution therefore had to reproduce the valuable interaction pattern while remaining local, explainable, and safe to demonstrate.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1:30–2:45</a:t>
            </a:r>
          </a:p>
          <a:p/>
          <a:p>
            <a:r>
              <a:t>The solution was a local-first Flutter application that joined discovery, cart management, checkout, order history, loyalty, promotions, notifications, chat, and administration. The four objectives were clarity, reliability, safety, and testability.</a:t>
            </a:r>
          </a:p>
          <a:p/>
          <a:p>
            <a:r>
              <a:t>Clarity came from a consistent five-tab customer shell. Reliability came from SQLite persistence and atomic order placement. Safety came from openly simulated payments and the decision not to save card fields. Testability came from separating UI, state, and persistence so each layer could be checked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2:45–4:00</a:t>
            </a:r>
          </a:p>
          <a:p/>
          <a:p>
            <a:r>
              <a:t>The architecture used four layers. Screens and widgets handled presentation. Provider and ChangeNotifier represented observable state, including loading and error states. Repositories owned database operations, while DatabaseService created and upgraded SQLite.</a:t>
            </a:r>
          </a:p>
          <a:p/>
          <a:p>
            <a:r>
              <a:t>For example, an Add to Cart tap did not contain SQL. It called CartProvider, which called CartRepository. SQLite persisted the quantity, and the provider reloaded the cart so the interface updated. This separation reduced coupling and made provider behaviour testable with repository stubs.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4:00–5:15</a:t>
            </a:r>
          </a:p>
          <a:p/>
          <a:p>
            <a:r>
              <a:t>Object orientation was visible in the implemented system. Providers encapsulated private state. Repositories abstracted persistence. Flutter widgets and ChangeNotifier demonstrated inheritance. Test doubles demonstrated polymorphism by overriding repository operations. Composition appeared in MultiProvider and the reuse of smaller widgets. Finally, typed domain models carried consistent data across the architecture.</a:t>
            </a:r>
          </a:p>
          <a:p/>
          <a:p>
            <a:r>
              <a:t>Point to one source example for each concept if asked. Avoid giving textbook definitions without connecting them to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5:15–5:45</a:t>
            </a:r>
          </a:p>
          <a:p/>
          <a:p>
            <a:r>
              <a:t>Start or confirm the video recording now. Switch from the slides to the Android emulator. Keep the narration continuous and explain the purpose of each action instead of silently tapping.</a:t>
            </a:r>
          </a:p>
          <a:p/>
          <a:p>
            <a:r>
              <a:t>Demo order:</a:t>
            </a:r>
          </a:p>
          <a:p>
            <a:r>
              <a:t>1. Sign in or use the prepared local customer account.</a:t>
            </a:r>
          </a:p>
          <a:p>
            <a:r>
              <a:t>2. Home → promotion/search/categories.</a:t>
            </a:r>
          </a:p>
          <a:p>
            <a:r>
              <a:t>3. Menu → filter → product details → quantity → Add to Cart.</a:t>
            </a:r>
          </a:p>
          <a:p>
            <a:r>
              <a:t>4. Cart → checkout → complete safe demo details → Cash on Delivery → Place Order.</a:t>
            </a:r>
          </a:p>
          <a:p>
            <a:r>
              <a:t>5. Confirmation → Orders → Profile loyalty → customer chat.</a:t>
            </a:r>
          </a:p>
          <a:p>
            <a:r>
              <a:t>6. Log out and open the local administrator account → products → orders → chat.</a:t>
            </a:r>
          </a:p>
          <a:p/>
          <a:p>
            <a:r>
              <a:t>If the live app fails, use the next three screenshot slides as a narrated recovery route.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5:45–7:30 (mostly in the emulator)</a:t>
            </a:r>
          </a:p>
          <a:p/>
          <a:p>
            <a:r>
              <a:t>On Home, identify the promotion carousel, search entry, and four categories. Open Menu and show that category selection and text search change the visible products. Open a product and explain that the typed Product model supplies the name, category, price, description, image URL, and rating. Increase the quantity once, show the selected total, then add the item to the cart.</a:t>
            </a:r>
          </a:p>
          <a:p/>
          <a:p>
            <a:r>
              <a:t>Justification: this journey reduces discovery effort and provides price transparency before checkout.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7:30–9:00 (mostly in the emulator)</a:t>
            </a:r>
          </a:p>
          <a:p/>
          <a:p>
            <a:r>
              <a:t>Open Cart and explain the subtotal, fixed delivery charge, and total. Proceed to Checkout. First submit an empty required field if time allows to demonstrate validation. Select Cash on Delivery for the fastest recording route, but point out that card and wallet are simulations.</a:t>
            </a:r>
          </a:p>
          <a:p/>
          <a:p>
            <a:r>
              <a:t>Place the order. Explain that OrderRepository recalculates the authoritative total from SQLite, inserts the order, and clears the cart inside one transaction. Show the friendly order number and preparing status on the confirmation screen.</a:t>
            </a:r>
          </a:p>
          <a:p/>
          <a:p>
            <a:r>
              <a:t>Privacy justification: cardholder name, number, expiry, and CVV remain only in the form and are not saved in the orders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9:00–10:30</a:t>
            </a:r>
          </a:p>
          <a:p/>
          <a:p>
            <a:r>
              <a:t>From the confirmation, return to the main shell and show Orders or Profile. Explain that loyalty uses qualifying non-cancelled order totals and awards one point per Rs. 100. Open chat briefly to show the customer communication entry point.</a:t>
            </a:r>
          </a:p>
          <a:p/>
          <a:p>
            <a:r>
              <a:t>Then log out and demonstrate the administrator role. Show product maintenance, order status controls, and the chat destination. Explain that the same local SQLite data is presented differently according to the restored role.</a:t>
            </a:r>
          </a:p>
          <a:p/>
          <a:p>
            <a:r>
              <a:t>End the project demonstration here and return to the slides for the individual contribution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10:30–12:00</a:t>
            </a:r>
          </a:p>
          <a:p/>
          <a:p>
            <a:r>
              <a:t>This section explains the individual contribution using evidence rather than a feature list. The repository contains 23 incremental commits spanning the architecture, customer flow, administrator operations, resilience, tests, and documentation. The final suite contains 42 passing tests.</a:t>
            </a:r>
          </a:p>
          <a:p/>
          <a:p>
            <a:r>
              <a:t>Demonstrate one traceable contribution: open CartProvider and CartRepository, then connect them to the cart operation already shown in the app. Alternatively, open OrderRepository.placeOrder and explain the transaction. Show the Git log briefly to establish the implementation sequence.</a:t>
            </a:r>
          </a:p>
          <a:p/>
          <a:p>
            <a:r>
              <a:t>Keep the contributor name blank on the slide as requested; state it verbally only if required by the assessor.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12:00–13:15</a:t>
            </a:r>
          </a:p>
          <a:p/>
          <a:p>
            <a:r>
              <a:t>Justify each technology through the running system. Flutter and Dart supported a single typed Android UI. Material 3 supplied familiar accessible components. Provider was sufficient for a small ChangeNotifier architecture without unnecessary complexity. SQLite matched the local-first requirement and provided transactions. The crypto package prevented plain-text demonstration passwords, although this was not presented as production authentication. Flutter tests and Git supplied repeatable quality and contribution evidence.</a:t>
            </a:r>
          </a:p>
          <a:p/>
          <a:p>
            <a:r>
              <a:t>Avoid saying a technology was selected only because it is popular. Tie every choice to a requirement or constraint.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13:15–14:30</a:t>
            </a:r>
          </a:p>
          <a:p/>
          <a:p>
            <a:r>
              <a:t>The highest risks were scope, inconsistent order data, and payment privacy. Scope was controlled through staged delivery and explicit exclusions. The order transaction protected consistency. Payment was simulated and card values were excluded from persistence.</a:t>
            </a:r>
          </a:p>
          <a:p/>
          <a:p>
            <a:r>
              <a:t>Two implementation-specific risks also mattered. A successful write followed by a failed refresh could tempt the UI to retry and duplicate an action; resilience tests confirmed that providers instead reported the refresh failure without retrying the committed mutation. Network image failures used placeholders, and responsive tests covered narrow, landscape, and large-text layouts.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14:30–15:00</a:t>
            </a:r>
          </a:p>
          <a:p/>
          <a:p>
            <a:r>
              <a:t>Conclude with evidence. The final build ran on Android, static analysis found no issues, and all 42 automated tests passed. The project achieved a complete local ordering journey and made its boundaries—especially simulated payments and local-only synchronisation—clear.</a:t>
            </a:r>
          </a:p>
          <a:p/>
          <a:p>
            <a:r>
              <a:t>Thank the audience and invite questions. Keep the emulator available in case an assessor asks to revisit a feature or source file.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a:t>
            </a:r>
          </a:p>
          <a:p/>
          <a:p>
            <a:r>
              <a:t>If the emulator fails, narrate the same end-to-end journey from left to right. State clearly that these are real screenshots captured from the Android emulator during report preparation, not mock-ups.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a:t>
            </a:r>
          </a:p>
          <a:p/>
          <a:p>
            <a:r>
              <a:t>The schema contains users, auth_session, chat_messages, products, cart_items, and orders. Products and cart items are related; users own sessions and chat messages. Orders deliberately keep a delivery snapshot and contain no card-number, expiry, or CVV fields. Database version 4 introduced staged migrations. The place-order transaction is the key reliability control.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42819"/>
        </a:solidFill>
        <a:effectLst/>
      </p:bgPr>
    </p:bg>
    <p:spTree>
      <p:nvGrpSpPr>
        <p:cNvPr id="1" name=""/>
        <p:cNvGrpSpPr/>
        <p:nvPr/>
      </p:nvGrpSpPr>
      <p:grpSpPr/>
      <p:sp>
        <p:nvSpPr>
          <p:cNvPr id="2" name="Rectangle 1"/>
          <p:cNvSpPr/>
          <p:nvPr/>
        </p:nvSpPr>
        <p:spPr>
          <a:xfrm>
            <a:off x="6995160" y="-411480"/>
            <a:ext cx="5760720" cy="7498079"/>
          </a:xfrm>
          <a:prstGeom prst="rect">
            <a:avLst/>
          </a:prstGeom>
          <a:solidFill>
            <a:srgbClr val="CC3D05"/>
          </a:solidFill>
          <a:ln>
            <a:solidFill>
              <a:srgbClr val="CC3D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452360" y="502920"/>
            <a:ext cx="4069080" cy="5852160"/>
          </a:xfrm>
          <a:prstGeom prst="roundRect">
            <a:avLst>
              <a:gd name="adj" fmla="val 12000"/>
            </a:avLst>
          </a:prstGeom>
          <a:solidFill>
            <a:srgbClr val="FFF8F1"/>
          </a:solidFill>
          <a:ln>
            <a:solidFill>
              <a:srgbClr val="FF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villis_cafe_logo.png"/>
          <p:cNvPicPr>
            <a:picLocks noChangeAspect="1"/>
          </p:cNvPicPr>
          <p:nvPr/>
        </p:nvPicPr>
        <p:blipFill>
          <a:blip r:embed="rId2"/>
          <a:stretch>
            <a:fillRect/>
          </a:stretch>
        </p:blipFill>
        <p:spPr>
          <a:xfrm>
            <a:off x="8439912" y="1133856"/>
            <a:ext cx="2148840" cy="2148840"/>
          </a:xfrm>
          <a:prstGeom prst="rect">
            <a:avLst/>
          </a:prstGeom>
        </p:spPr>
      </p:pic>
      <p:sp>
        <p:nvSpPr>
          <p:cNvPr id="5" name="TextBox 4"/>
          <p:cNvSpPr txBox="1"/>
          <p:nvPr/>
        </p:nvSpPr>
        <p:spPr>
          <a:xfrm>
            <a:off x="713232" y="1133856"/>
            <a:ext cx="5669280" cy="640080"/>
          </a:xfrm>
          <a:prstGeom prst="rect">
            <a:avLst/>
          </a:prstGeom>
          <a:noFill/>
        </p:spPr>
        <p:txBody>
          <a:bodyPr wrap="square" lIns="0" rIns="0" tIns="0" bIns="0" anchor="t">
            <a:spAutoFit/>
          </a:bodyPr>
          <a:lstStyle/>
          <a:p>
            <a:pPr algn="l">
              <a:lnSpc>
                <a:spcPct val="100000"/>
              </a:lnSpc>
            </a:pPr>
            <a:r>
              <a:rPr sz="3400" b="1">
                <a:solidFill>
                  <a:srgbClr val="FFFFFF"/>
                </a:solidFill>
                <a:latin typeface="Aptos Display"/>
              </a:rPr>
              <a:t>VILLI’S CAFE</a:t>
            </a:r>
          </a:p>
        </p:txBody>
      </p:sp>
      <p:sp>
        <p:nvSpPr>
          <p:cNvPr id="6" name="TextBox 5"/>
          <p:cNvSpPr txBox="1"/>
          <p:nvPr/>
        </p:nvSpPr>
        <p:spPr>
          <a:xfrm>
            <a:off x="731520" y="1938528"/>
            <a:ext cx="5303520" cy="530352"/>
          </a:xfrm>
          <a:prstGeom prst="rect">
            <a:avLst/>
          </a:prstGeom>
          <a:noFill/>
        </p:spPr>
        <p:txBody>
          <a:bodyPr wrap="square" lIns="0" rIns="0" tIns="0" bIns="0" anchor="t">
            <a:spAutoFit/>
          </a:bodyPr>
          <a:lstStyle/>
          <a:p>
            <a:pPr algn="l">
              <a:lnSpc>
                <a:spcPct val="100000"/>
              </a:lnSpc>
            </a:pPr>
            <a:r>
              <a:rPr sz="2500" b="1">
                <a:solidFill>
                  <a:srgbClr val="FFD7C0"/>
                </a:solidFill>
                <a:latin typeface="Aptos"/>
              </a:rPr>
              <a:t>Project Demonstration</a:t>
            </a:r>
          </a:p>
        </p:txBody>
      </p:sp>
      <p:sp>
        <p:nvSpPr>
          <p:cNvPr id="7" name="TextBox 6"/>
          <p:cNvSpPr txBox="1"/>
          <p:nvPr/>
        </p:nvSpPr>
        <p:spPr>
          <a:xfrm>
            <a:off x="749808" y="2670048"/>
            <a:ext cx="5257800" cy="749808"/>
          </a:xfrm>
          <a:prstGeom prst="rect">
            <a:avLst/>
          </a:prstGeom>
          <a:noFill/>
        </p:spPr>
        <p:txBody>
          <a:bodyPr wrap="square" lIns="0" rIns="0" tIns="0" bIns="0" anchor="t">
            <a:spAutoFit/>
          </a:bodyPr>
          <a:lstStyle/>
          <a:p>
            <a:pPr algn="l">
              <a:lnSpc>
                <a:spcPct val="100000"/>
              </a:lnSpc>
            </a:pPr>
            <a:r>
              <a:rPr sz="1700" b="0">
                <a:solidFill>
                  <a:srgbClr val="FFFFFF"/>
                </a:solidFill>
                <a:latin typeface="Aptos"/>
              </a:rPr>
              <a:t>A local-first Android café ordering experience</a:t>
            </a:r>
          </a:p>
        </p:txBody>
      </p:sp>
      <p:sp>
        <p:nvSpPr>
          <p:cNvPr id="8" name="Rounded Rectangle 7"/>
          <p:cNvSpPr/>
          <p:nvPr/>
        </p:nvSpPr>
        <p:spPr>
          <a:xfrm>
            <a:off x="749808" y="3785615"/>
            <a:ext cx="1417320" cy="329184"/>
          </a:xfrm>
          <a:prstGeom prst="roundRect">
            <a:avLst>
              <a:gd name="adj" fmla="val 12000"/>
            </a:avLst>
          </a:prstGeom>
          <a:solidFill>
            <a:srgbClr val="CC3D05"/>
          </a:solidFill>
          <a:ln>
            <a:solidFill>
              <a:srgbClr val="CC3D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3813048"/>
            <a:ext cx="1307592" cy="201168"/>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15 MINUTES</a:t>
            </a:r>
          </a:p>
        </p:txBody>
      </p:sp>
      <p:sp>
        <p:nvSpPr>
          <p:cNvPr id="10" name="TextBox 9"/>
          <p:cNvSpPr txBox="1"/>
          <p:nvPr/>
        </p:nvSpPr>
        <p:spPr>
          <a:xfrm>
            <a:off x="758952" y="4370832"/>
            <a:ext cx="4754880" cy="731520"/>
          </a:xfrm>
          <a:prstGeom prst="rect">
            <a:avLst/>
          </a:prstGeom>
          <a:noFill/>
        </p:spPr>
        <p:txBody>
          <a:bodyPr wrap="square" lIns="0" rIns="0" tIns="0" bIns="0" anchor="t">
            <a:spAutoFit/>
          </a:bodyPr>
          <a:lstStyle/>
          <a:p>
            <a:pPr algn="l">
              <a:lnSpc>
                <a:spcPct val="100000"/>
              </a:lnSpc>
            </a:pPr>
            <a:r>
              <a:rPr sz="1400" b="1">
                <a:solidFill>
                  <a:srgbClr val="FFFFFF"/>
                </a:solidFill>
                <a:latin typeface="Aptos"/>
              </a:rPr>
              <a:t>10 min  Project and system demo
5 min   Individual contribution</a:t>
            </a:r>
          </a:p>
        </p:txBody>
      </p:sp>
      <p:sp>
        <p:nvSpPr>
          <p:cNvPr id="11" name="TextBox 10"/>
          <p:cNvSpPr txBox="1"/>
          <p:nvPr/>
        </p:nvSpPr>
        <p:spPr>
          <a:xfrm>
            <a:off x="758952" y="5888736"/>
            <a:ext cx="5303520" cy="320040"/>
          </a:xfrm>
          <a:prstGeom prst="rect">
            <a:avLst/>
          </a:prstGeom>
          <a:noFill/>
        </p:spPr>
        <p:txBody>
          <a:bodyPr wrap="square" lIns="0" rIns="0" tIns="0" bIns="0" anchor="t">
            <a:spAutoFit/>
          </a:bodyPr>
          <a:lstStyle/>
          <a:p>
            <a:pPr algn="l">
              <a:lnSpc>
                <a:spcPct val="100000"/>
              </a:lnSpc>
            </a:pPr>
            <a:r>
              <a:rPr sz="1100" b="0">
                <a:solidFill>
                  <a:srgbClr val="EFC6B1"/>
                </a:solidFill>
                <a:latin typeface="Aptos"/>
              </a:rPr>
              <a:t>Presenter: 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PROBLEM</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The ordering journey was fragmented</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A small café needed the useful parts of a delivery app—without marketplace complexity.</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87000" y="402336"/>
            <a:ext cx="1207008" cy="329184"/>
          </a:xfrm>
          <a:prstGeom prst="roundRect">
            <a:avLst>
              <a:gd name="adj" fmla="val 12000"/>
            </a:avLst>
          </a:prstGeom>
          <a:solidFill>
            <a:srgbClr val="E4F1E9"/>
          </a:solidFill>
          <a:ln>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41864" y="429768"/>
            <a:ext cx="1097280" cy="201168"/>
          </a:xfrm>
          <a:prstGeom prst="rect">
            <a:avLst/>
          </a:prstGeom>
          <a:noFill/>
        </p:spPr>
        <p:txBody>
          <a:bodyPr wrap="square" lIns="0" rIns="0" tIns="0" bIns="0" anchor="t">
            <a:spAutoFit/>
          </a:bodyPr>
          <a:lstStyle/>
          <a:p>
            <a:pPr algn="ctr">
              <a:lnSpc>
                <a:spcPct val="100000"/>
              </a:lnSpc>
            </a:pPr>
            <a:r>
              <a:rPr sz="900" b="1">
                <a:solidFill>
                  <a:srgbClr val="218653"/>
                </a:solidFill>
                <a:latin typeface="Aptos"/>
              </a:rPr>
              <a:t>0:30–1:30</a:t>
            </a:r>
          </a:p>
        </p:txBody>
      </p:sp>
      <p:sp>
        <p:nvSpPr>
          <p:cNvPr id="8" name="Rounded Rectangle 7"/>
          <p:cNvSpPr/>
          <p:nvPr/>
        </p:nvSpPr>
        <p:spPr>
          <a:xfrm>
            <a:off x="685800" y="2103120"/>
            <a:ext cx="4663440" cy="3611880"/>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414016"/>
            <a:ext cx="4114800" cy="320040"/>
          </a:xfrm>
          <a:prstGeom prst="rect">
            <a:avLst/>
          </a:prstGeom>
          <a:noFill/>
        </p:spPr>
        <p:txBody>
          <a:bodyPr wrap="square" lIns="0" rIns="0" tIns="0" bIns="0" anchor="t">
            <a:spAutoFit/>
          </a:bodyPr>
          <a:lstStyle/>
          <a:p>
            <a:pPr algn="l">
              <a:lnSpc>
                <a:spcPct val="100000"/>
              </a:lnSpc>
            </a:pPr>
            <a:r>
              <a:rPr sz="1800" b="1">
                <a:solidFill>
                  <a:srgbClr val="542819"/>
                </a:solidFill>
                <a:latin typeface="Aptos"/>
              </a:rPr>
              <a:t>Observed customer friction</a:t>
            </a:r>
          </a:p>
        </p:txBody>
      </p:sp>
      <p:sp>
        <p:nvSpPr>
          <p:cNvPr id="10" name="TextBox 9"/>
          <p:cNvSpPr txBox="1"/>
          <p:nvPr/>
        </p:nvSpPr>
        <p:spPr>
          <a:xfrm>
            <a:off x="978408" y="2926080"/>
            <a:ext cx="3977639" cy="2240280"/>
          </a:xfrm>
          <a:prstGeom prst="rect">
            <a:avLst/>
          </a:prstGeom>
          <a:noFill/>
        </p:spPr>
        <p:txBody>
          <a:bodyPr wrap="square" lIns="0" rIns="0" tIns="0" bIns="0">
            <a:spAutoFit/>
          </a:bodyPr>
          <a:lstStyle/>
          <a:p>
            <a:pPr>
              <a:lnSpc>
                <a:spcPct val="105000"/>
              </a:lnSpc>
              <a:spcAft>
                <a:spcPts val="1300"/>
              </a:spcAft>
            </a:pPr>
            <a:r>
              <a:rPr sz="800">
                <a:solidFill>
                  <a:srgbClr val="CC3D05"/>
                </a:solidFill>
                <a:latin typeface="Aptos"/>
              </a:rPr>
              <a:t>●  </a:t>
            </a:r>
            <a:r>
              <a:rPr sz="1400">
                <a:solidFill>
                  <a:srgbClr val="201714"/>
                </a:solidFill>
                <a:latin typeface="Aptos"/>
              </a:rPr>
              <a:t>Menu discovery depended on being at the café</a:t>
            </a:r>
          </a:p>
          <a:p>
            <a:pPr>
              <a:lnSpc>
                <a:spcPct val="105000"/>
              </a:lnSpc>
              <a:spcAft>
                <a:spcPts val="1300"/>
              </a:spcAft>
            </a:pPr>
            <a:r>
              <a:rPr sz="800">
                <a:solidFill>
                  <a:srgbClr val="CC3D05"/>
                </a:solidFill>
                <a:latin typeface="Aptos"/>
              </a:rPr>
              <a:t>●  </a:t>
            </a:r>
            <a:r>
              <a:rPr sz="1400">
                <a:solidFill>
                  <a:srgbClr val="201714"/>
                </a:solidFill>
                <a:latin typeface="Aptos"/>
              </a:rPr>
              <a:t>Order totals were not visible before checkout</a:t>
            </a:r>
          </a:p>
          <a:p>
            <a:pPr>
              <a:lnSpc>
                <a:spcPct val="105000"/>
              </a:lnSpc>
              <a:spcAft>
                <a:spcPts val="1300"/>
              </a:spcAft>
            </a:pPr>
            <a:r>
              <a:rPr sz="800">
                <a:solidFill>
                  <a:srgbClr val="CC3D05"/>
                </a:solidFill>
                <a:latin typeface="Aptos"/>
              </a:rPr>
              <a:t>●  </a:t>
            </a:r>
            <a:r>
              <a:rPr sz="1400">
                <a:solidFill>
                  <a:srgbClr val="201714"/>
                </a:solidFill>
                <a:latin typeface="Aptos"/>
              </a:rPr>
              <a:t>Promotions, loyalty, and order status were disconnected</a:t>
            </a:r>
          </a:p>
          <a:p>
            <a:pPr>
              <a:lnSpc>
                <a:spcPct val="105000"/>
              </a:lnSpc>
              <a:spcAft>
                <a:spcPts val="1300"/>
              </a:spcAft>
            </a:pPr>
            <a:r>
              <a:rPr sz="800">
                <a:solidFill>
                  <a:srgbClr val="CC3D05"/>
                </a:solidFill>
                <a:latin typeface="Aptos"/>
              </a:rPr>
              <a:t>●  </a:t>
            </a:r>
            <a:r>
              <a:rPr sz="1400">
                <a:solidFill>
                  <a:srgbClr val="201714"/>
                </a:solidFill>
                <a:latin typeface="Aptos"/>
              </a:rPr>
              <a:t>Large delivery platforms added fees and unnecessary scope</a:t>
            </a:r>
          </a:p>
        </p:txBody>
      </p:sp>
      <p:sp>
        <p:nvSpPr>
          <p:cNvPr id="11" name="Rounded Rectangle 10"/>
          <p:cNvSpPr/>
          <p:nvPr/>
        </p:nvSpPr>
        <p:spPr>
          <a:xfrm>
            <a:off x="5669280" y="2103120"/>
            <a:ext cx="5824728" cy="3611880"/>
          </a:xfrm>
          <a:prstGeom prst="roundRect">
            <a:avLst>
              <a:gd name="adj" fmla="val 12000"/>
            </a:avLst>
          </a:prstGeom>
          <a:solidFill>
            <a:srgbClr val="542819"/>
          </a:solidFill>
          <a:ln w="12700">
            <a:solidFill>
              <a:srgbClr val="5428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2441448"/>
            <a:ext cx="4480560" cy="274320"/>
          </a:xfrm>
          <a:prstGeom prst="rect">
            <a:avLst/>
          </a:prstGeom>
          <a:noFill/>
        </p:spPr>
        <p:txBody>
          <a:bodyPr wrap="square" lIns="0" rIns="0" tIns="0" bIns="0" anchor="t">
            <a:spAutoFit/>
          </a:bodyPr>
          <a:lstStyle/>
          <a:p>
            <a:pPr algn="l">
              <a:lnSpc>
                <a:spcPct val="100000"/>
              </a:lnSpc>
            </a:pPr>
            <a:r>
              <a:rPr sz="1200" b="1">
                <a:solidFill>
                  <a:srgbClr val="F6C8B0"/>
                </a:solidFill>
                <a:latin typeface="Aptos"/>
              </a:rPr>
              <a:t>Design question</a:t>
            </a:r>
          </a:p>
        </p:txBody>
      </p:sp>
      <p:sp>
        <p:nvSpPr>
          <p:cNvPr id="13" name="TextBox 12"/>
          <p:cNvSpPr txBox="1"/>
          <p:nvPr/>
        </p:nvSpPr>
        <p:spPr>
          <a:xfrm>
            <a:off x="6035040" y="2944368"/>
            <a:ext cx="4709160" cy="1417320"/>
          </a:xfrm>
          <a:prstGeom prst="rect">
            <a:avLst/>
          </a:prstGeom>
          <a:noFill/>
        </p:spPr>
        <p:txBody>
          <a:bodyPr wrap="square" lIns="0" rIns="0" tIns="0" bIns="0" anchor="t">
            <a:spAutoFit/>
          </a:bodyPr>
          <a:lstStyle/>
          <a:p>
            <a:pPr algn="l">
              <a:lnSpc>
                <a:spcPct val="100000"/>
              </a:lnSpc>
            </a:pPr>
            <a:r>
              <a:rPr sz="2400" b="1">
                <a:solidFill>
                  <a:srgbClr val="FFFFFF"/>
                </a:solidFill>
                <a:latin typeface="Aptos Display"/>
              </a:rPr>
              <a:t>How could one small Android app support discovery, ordering, and follow-up while keeping data local and the code understandable?</a:t>
            </a:r>
          </a:p>
        </p:txBody>
      </p:sp>
      <p:sp>
        <p:nvSpPr>
          <p:cNvPr id="14" name="TextBox 13"/>
          <p:cNvSpPr txBox="1"/>
          <p:nvPr/>
        </p:nvSpPr>
        <p:spPr>
          <a:xfrm>
            <a:off x="6035040" y="4709160"/>
            <a:ext cx="4389120" cy="274320"/>
          </a:xfrm>
          <a:prstGeom prst="rect">
            <a:avLst/>
          </a:prstGeom>
          <a:noFill/>
        </p:spPr>
        <p:txBody>
          <a:bodyPr wrap="square" lIns="0" rIns="0" tIns="0" bIns="0" anchor="t">
            <a:spAutoFit/>
          </a:bodyPr>
          <a:lstStyle/>
          <a:p>
            <a:pPr algn="l">
              <a:lnSpc>
                <a:spcPct val="100000"/>
              </a:lnSpc>
            </a:pPr>
            <a:r>
              <a:rPr sz="1100" b="1">
                <a:solidFill>
                  <a:srgbClr val="F6C8B0"/>
                </a:solidFill>
                <a:latin typeface="Aptos"/>
              </a:rPr>
              <a:t>Constraint-led justification</a:t>
            </a:r>
          </a:p>
        </p:txBody>
      </p:sp>
      <p:sp>
        <p:nvSpPr>
          <p:cNvPr id="15" name="TextBox 14"/>
          <p:cNvSpPr txBox="1"/>
          <p:nvPr/>
        </p:nvSpPr>
        <p:spPr>
          <a:xfrm>
            <a:off x="6035040" y="5084064"/>
            <a:ext cx="4709160" cy="384048"/>
          </a:xfrm>
          <a:prstGeom prst="rect">
            <a:avLst/>
          </a:prstGeom>
          <a:noFill/>
        </p:spPr>
        <p:txBody>
          <a:bodyPr wrap="square" lIns="0" rIns="0" tIns="0" bIns="0" anchor="t">
            <a:spAutoFit/>
          </a:bodyPr>
          <a:lstStyle/>
          <a:p>
            <a:pPr algn="l">
              <a:lnSpc>
                <a:spcPct val="100000"/>
              </a:lnSpc>
            </a:pPr>
            <a:r>
              <a:rPr sz="1200" b="0">
                <a:solidFill>
                  <a:srgbClr val="FFFFFF"/>
                </a:solidFill>
                <a:latin typeface="Aptos"/>
              </a:rPr>
              <a:t>No real payment gateway • No complex backend • Android coursework scope</a:t>
            </a:r>
          </a:p>
        </p:txBody>
      </p:sp>
      <p:sp>
        <p:nvSpPr>
          <p:cNvPr id="16" name="TextBox 15"/>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PROJECT DEMONSTRATION</a:t>
            </a:r>
          </a:p>
        </p:txBody>
      </p:sp>
      <p:sp>
        <p:nvSpPr>
          <p:cNvPr id="17" name="TextBox 16"/>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SOLUTION AND OBJECTIVES</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One local-first flow from discovery to loyalty</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The application joined the complete café journey without processing real money.</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87000" y="402336"/>
            <a:ext cx="1207008" cy="329184"/>
          </a:xfrm>
          <a:prstGeom prst="roundRect">
            <a:avLst>
              <a:gd name="adj" fmla="val 12000"/>
            </a:avLst>
          </a:prstGeom>
          <a:solidFill>
            <a:srgbClr val="E4F1E9"/>
          </a:solidFill>
          <a:ln>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41864" y="429768"/>
            <a:ext cx="1097280" cy="201168"/>
          </a:xfrm>
          <a:prstGeom prst="rect">
            <a:avLst/>
          </a:prstGeom>
          <a:noFill/>
        </p:spPr>
        <p:txBody>
          <a:bodyPr wrap="square" lIns="0" rIns="0" tIns="0" bIns="0" anchor="t">
            <a:spAutoFit/>
          </a:bodyPr>
          <a:lstStyle/>
          <a:p>
            <a:pPr algn="ctr">
              <a:lnSpc>
                <a:spcPct val="100000"/>
              </a:lnSpc>
            </a:pPr>
            <a:r>
              <a:rPr sz="900" b="1">
                <a:solidFill>
                  <a:srgbClr val="218653"/>
                </a:solidFill>
                <a:latin typeface="Aptos"/>
              </a:rPr>
              <a:t>1:30–2:45</a:t>
            </a:r>
          </a:p>
        </p:txBody>
      </p:sp>
      <p:sp>
        <p:nvSpPr>
          <p:cNvPr id="8" name="Rounded Rectangle 7"/>
          <p:cNvSpPr/>
          <p:nvPr/>
        </p:nvSpPr>
        <p:spPr>
          <a:xfrm>
            <a:off x="740664" y="2066544"/>
            <a:ext cx="1872234" cy="395935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9_customer_home.png"/>
          <p:cNvPicPr>
            <a:picLocks noChangeAspect="1"/>
          </p:cNvPicPr>
          <p:nvPr/>
        </p:nvPicPr>
        <p:blipFill>
          <a:blip r:embed="rId2"/>
          <a:stretch>
            <a:fillRect/>
          </a:stretch>
        </p:blipFill>
        <p:spPr>
          <a:xfrm>
            <a:off x="822960" y="2148840"/>
            <a:ext cx="1707642" cy="3794759"/>
          </a:xfrm>
          <a:prstGeom prst="rect">
            <a:avLst/>
          </a:prstGeom>
        </p:spPr>
      </p:pic>
      <p:sp>
        <p:nvSpPr>
          <p:cNvPr id="10" name="TextBox 9"/>
          <p:cNvSpPr txBox="1"/>
          <p:nvPr/>
        </p:nvSpPr>
        <p:spPr>
          <a:xfrm>
            <a:off x="2971800" y="2240280"/>
            <a:ext cx="2971800" cy="384048"/>
          </a:xfrm>
          <a:prstGeom prst="rect">
            <a:avLst/>
          </a:prstGeom>
          <a:noFill/>
        </p:spPr>
        <p:txBody>
          <a:bodyPr wrap="square" lIns="0" rIns="0" tIns="0" bIns="0" anchor="t">
            <a:spAutoFit/>
          </a:bodyPr>
          <a:lstStyle/>
          <a:p>
            <a:pPr algn="l">
              <a:lnSpc>
                <a:spcPct val="100000"/>
              </a:lnSpc>
            </a:pPr>
            <a:r>
              <a:rPr sz="2000" b="1">
                <a:solidFill>
                  <a:srgbClr val="542819"/>
                </a:solidFill>
                <a:latin typeface="Aptos"/>
              </a:rPr>
              <a:t>Villi’s Cafe combined</a:t>
            </a:r>
          </a:p>
        </p:txBody>
      </p:sp>
      <p:sp>
        <p:nvSpPr>
          <p:cNvPr id="11" name="TextBox 10"/>
          <p:cNvSpPr txBox="1"/>
          <p:nvPr/>
        </p:nvSpPr>
        <p:spPr>
          <a:xfrm>
            <a:off x="2990088" y="2788920"/>
            <a:ext cx="3246120" cy="2606040"/>
          </a:xfrm>
          <a:prstGeom prst="rect">
            <a:avLst/>
          </a:prstGeom>
          <a:noFill/>
        </p:spPr>
        <p:txBody>
          <a:bodyPr wrap="square" lIns="0" rIns="0" tIns="0" bIns="0">
            <a:spAutoFit/>
          </a:bodyPr>
          <a:lstStyle/>
          <a:p>
            <a:pPr>
              <a:lnSpc>
                <a:spcPct val="105000"/>
              </a:lnSpc>
              <a:spcAft>
                <a:spcPts val="800"/>
              </a:spcAft>
            </a:pPr>
            <a:r>
              <a:rPr sz="800">
                <a:solidFill>
                  <a:srgbClr val="CC3D05"/>
                </a:solidFill>
                <a:latin typeface="Aptos"/>
              </a:rPr>
              <a:t>●  </a:t>
            </a:r>
            <a:r>
              <a:rPr sz="1250">
                <a:solidFill>
                  <a:srgbClr val="201714"/>
                </a:solidFill>
                <a:latin typeface="Aptos"/>
              </a:rPr>
              <a:t>Local authentication and role-based entry</a:t>
            </a:r>
          </a:p>
          <a:p>
            <a:pPr>
              <a:lnSpc>
                <a:spcPct val="105000"/>
              </a:lnSpc>
              <a:spcAft>
                <a:spcPts val="800"/>
              </a:spcAft>
            </a:pPr>
            <a:r>
              <a:rPr sz="800">
                <a:solidFill>
                  <a:srgbClr val="CC3D05"/>
                </a:solidFill>
                <a:latin typeface="Aptos"/>
              </a:rPr>
              <a:t>●  </a:t>
            </a:r>
            <a:r>
              <a:rPr sz="1250">
                <a:solidFill>
                  <a:srgbClr val="201714"/>
                </a:solidFill>
                <a:latin typeface="Aptos"/>
              </a:rPr>
              <a:t>Searchable products and categories</a:t>
            </a:r>
          </a:p>
          <a:p>
            <a:pPr>
              <a:lnSpc>
                <a:spcPct val="105000"/>
              </a:lnSpc>
              <a:spcAft>
                <a:spcPts val="800"/>
              </a:spcAft>
            </a:pPr>
            <a:r>
              <a:rPr sz="800">
                <a:solidFill>
                  <a:srgbClr val="CC3D05"/>
                </a:solidFill>
                <a:latin typeface="Aptos"/>
              </a:rPr>
              <a:t>●  </a:t>
            </a:r>
            <a:r>
              <a:rPr sz="1250">
                <a:solidFill>
                  <a:srgbClr val="201714"/>
                </a:solidFill>
                <a:latin typeface="Aptos"/>
              </a:rPr>
              <a:t>Persistent cart and validated checkout</a:t>
            </a:r>
          </a:p>
          <a:p>
            <a:pPr>
              <a:lnSpc>
                <a:spcPct val="105000"/>
              </a:lnSpc>
              <a:spcAft>
                <a:spcPts val="800"/>
              </a:spcAft>
            </a:pPr>
            <a:r>
              <a:rPr sz="800">
                <a:solidFill>
                  <a:srgbClr val="CC3D05"/>
                </a:solidFill>
                <a:latin typeface="Aptos"/>
              </a:rPr>
              <a:t>●  </a:t>
            </a:r>
            <a:r>
              <a:rPr sz="1250">
                <a:solidFill>
                  <a:srgbClr val="201714"/>
                </a:solidFill>
                <a:latin typeface="Aptos"/>
              </a:rPr>
              <a:t>Order confirmation, history, and loyalty</a:t>
            </a:r>
          </a:p>
          <a:p>
            <a:pPr>
              <a:lnSpc>
                <a:spcPct val="105000"/>
              </a:lnSpc>
              <a:spcAft>
                <a:spcPts val="800"/>
              </a:spcAft>
            </a:pPr>
            <a:r>
              <a:rPr sz="800">
                <a:solidFill>
                  <a:srgbClr val="CC3D05"/>
                </a:solidFill>
                <a:latin typeface="Aptos"/>
              </a:rPr>
              <a:t>●  </a:t>
            </a:r>
            <a:r>
              <a:rPr sz="1250">
                <a:solidFill>
                  <a:srgbClr val="201714"/>
                </a:solidFill>
                <a:latin typeface="Aptos"/>
              </a:rPr>
              <a:t>Promotions, notifications, and café chat</a:t>
            </a:r>
          </a:p>
          <a:p>
            <a:pPr>
              <a:lnSpc>
                <a:spcPct val="105000"/>
              </a:lnSpc>
              <a:spcAft>
                <a:spcPts val="800"/>
              </a:spcAft>
            </a:pPr>
            <a:r>
              <a:rPr sz="800">
                <a:solidFill>
                  <a:srgbClr val="CC3D05"/>
                </a:solidFill>
                <a:latin typeface="Aptos"/>
              </a:rPr>
              <a:t>●  </a:t>
            </a:r>
            <a:r>
              <a:rPr sz="1250">
                <a:solidFill>
                  <a:srgbClr val="201714"/>
                </a:solidFill>
                <a:latin typeface="Aptos"/>
              </a:rPr>
              <a:t>Administrator product/order/chat controls</a:t>
            </a:r>
          </a:p>
        </p:txBody>
      </p:sp>
      <p:sp>
        <p:nvSpPr>
          <p:cNvPr id="12" name="Rounded Rectangle 11"/>
          <p:cNvSpPr/>
          <p:nvPr/>
        </p:nvSpPr>
        <p:spPr>
          <a:xfrm>
            <a:off x="6473952" y="2121408"/>
            <a:ext cx="2267712" cy="120700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38544" y="2331720"/>
            <a:ext cx="530352" cy="530352"/>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38544" y="2386584"/>
            <a:ext cx="530352" cy="228600"/>
          </a:xfrm>
          <a:prstGeom prst="rect">
            <a:avLst/>
          </a:prstGeom>
          <a:noFill/>
        </p:spPr>
        <p:txBody>
          <a:bodyPr wrap="square" lIns="0" rIns="0" tIns="0" bIns="0" anchor="t">
            <a:spAutoFit/>
          </a:bodyPr>
          <a:lstStyle/>
          <a:p>
            <a:pPr algn="ctr">
              <a:lnSpc>
                <a:spcPct val="100000"/>
              </a:lnSpc>
            </a:pPr>
            <a:r>
              <a:rPr sz="1300" b="1">
                <a:solidFill>
                  <a:srgbClr val="FFFFFF"/>
                </a:solidFill>
                <a:latin typeface="Aptos"/>
              </a:rPr>
              <a:t>1</a:t>
            </a:r>
          </a:p>
        </p:txBody>
      </p:sp>
      <p:sp>
        <p:nvSpPr>
          <p:cNvPr id="15" name="TextBox 14"/>
          <p:cNvSpPr txBox="1"/>
          <p:nvPr/>
        </p:nvSpPr>
        <p:spPr>
          <a:xfrm>
            <a:off x="7315200" y="2286000"/>
            <a:ext cx="1280160" cy="256032"/>
          </a:xfrm>
          <a:prstGeom prst="rect">
            <a:avLst/>
          </a:prstGeom>
          <a:noFill/>
        </p:spPr>
        <p:txBody>
          <a:bodyPr wrap="square" lIns="0" rIns="0" tIns="0" bIns="0" anchor="t">
            <a:spAutoFit/>
          </a:bodyPr>
          <a:lstStyle/>
          <a:p>
            <a:pPr algn="l">
              <a:lnSpc>
                <a:spcPct val="100000"/>
              </a:lnSpc>
            </a:pPr>
            <a:r>
              <a:rPr sz="1400" b="1">
                <a:solidFill>
                  <a:srgbClr val="542819"/>
                </a:solidFill>
                <a:latin typeface="Aptos"/>
              </a:rPr>
              <a:t>Clear</a:t>
            </a:r>
          </a:p>
        </p:txBody>
      </p:sp>
      <p:sp>
        <p:nvSpPr>
          <p:cNvPr id="16" name="TextBox 15"/>
          <p:cNvSpPr txBox="1"/>
          <p:nvPr/>
        </p:nvSpPr>
        <p:spPr>
          <a:xfrm>
            <a:off x="7315200" y="2615184"/>
            <a:ext cx="1280160" cy="512064"/>
          </a:xfrm>
          <a:prstGeom prst="rect">
            <a:avLst/>
          </a:prstGeom>
          <a:noFill/>
        </p:spPr>
        <p:txBody>
          <a:bodyPr wrap="square" lIns="0" rIns="0" tIns="0" bIns="0" anchor="t">
            <a:spAutoFit/>
          </a:bodyPr>
          <a:lstStyle/>
          <a:p>
            <a:pPr algn="l">
              <a:lnSpc>
                <a:spcPct val="100000"/>
              </a:lnSpc>
            </a:pPr>
            <a:r>
              <a:rPr sz="1050" b="0">
                <a:solidFill>
                  <a:srgbClr val="71635D"/>
                </a:solidFill>
                <a:latin typeface="Aptos"/>
              </a:rPr>
              <a:t>A five-tab customer journey with explicit actions.</a:t>
            </a:r>
          </a:p>
        </p:txBody>
      </p:sp>
      <p:sp>
        <p:nvSpPr>
          <p:cNvPr id="17" name="Rounded Rectangle 16"/>
          <p:cNvSpPr/>
          <p:nvPr/>
        </p:nvSpPr>
        <p:spPr>
          <a:xfrm>
            <a:off x="8988552" y="2121408"/>
            <a:ext cx="2267712" cy="120700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53144" y="2331720"/>
            <a:ext cx="530352" cy="530352"/>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53144" y="2386584"/>
            <a:ext cx="530352" cy="228600"/>
          </a:xfrm>
          <a:prstGeom prst="rect">
            <a:avLst/>
          </a:prstGeom>
          <a:noFill/>
        </p:spPr>
        <p:txBody>
          <a:bodyPr wrap="square" lIns="0" rIns="0" tIns="0" bIns="0" anchor="t">
            <a:spAutoFit/>
          </a:bodyPr>
          <a:lstStyle/>
          <a:p>
            <a:pPr algn="ctr">
              <a:lnSpc>
                <a:spcPct val="100000"/>
              </a:lnSpc>
            </a:pPr>
            <a:r>
              <a:rPr sz="1300" b="1">
                <a:solidFill>
                  <a:srgbClr val="FFFFFF"/>
                </a:solidFill>
                <a:latin typeface="Aptos"/>
              </a:rPr>
              <a:t>2</a:t>
            </a:r>
          </a:p>
        </p:txBody>
      </p:sp>
      <p:sp>
        <p:nvSpPr>
          <p:cNvPr id="20" name="TextBox 19"/>
          <p:cNvSpPr txBox="1"/>
          <p:nvPr/>
        </p:nvSpPr>
        <p:spPr>
          <a:xfrm>
            <a:off x="9829800" y="2286000"/>
            <a:ext cx="1280160" cy="256032"/>
          </a:xfrm>
          <a:prstGeom prst="rect">
            <a:avLst/>
          </a:prstGeom>
          <a:noFill/>
        </p:spPr>
        <p:txBody>
          <a:bodyPr wrap="square" lIns="0" rIns="0" tIns="0" bIns="0" anchor="t">
            <a:spAutoFit/>
          </a:bodyPr>
          <a:lstStyle/>
          <a:p>
            <a:pPr algn="l">
              <a:lnSpc>
                <a:spcPct val="100000"/>
              </a:lnSpc>
            </a:pPr>
            <a:r>
              <a:rPr sz="1400" b="1">
                <a:solidFill>
                  <a:srgbClr val="542819"/>
                </a:solidFill>
                <a:latin typeface="Aptos"/>
              </a:rPr>
              <a:t>Reliable</a:t>
            </a:r>
          </a:p>
        </p:txBody>
      </p:sp>
      <p:sp>
        <p:nvSpPr>
          <p:cNvPr id="21" name="TextBox 20"/>
          <p:cNvSpPr txBox="1"/>
          <p:nvPr/>
        </p:nvSpPr>
        <p:spPr>
          <a:xfrm>
            <a:off x="9829800" y="2615184"/>
            <a:ext cx="1280160" cy="512064"/>
          </a:xfrm>
          <a:prstGeom prst="rect">
            <a:avLst/>
          </a:prstGeom>
          <a:noFill/>
        </p:spPr>
        <p:txBody>
          <a:bodyPr wrap="square" lIns="0" rIns="0" tIns="0" bIns="0" anchor="t">
            <a:spAutoFit/>
          </a:bodyPr>
          <a:lstStyle/>
          <a:p>
            <a:pPr algn="l">
              <a:lnSpc>
                <a:spcPct val="100000"/>
              </a:lnSpc>
            </a:pPr>
            <a:r>
              <a:rPr sz="1050" b="0">
                <a:solidFill>
                  <a:srgbClr val="71635D"/>
                </a:solidFill>
                <a:latin typeface="Aptos"/>
              </a:rPr>
              <a:t>SQLite persistence, constraints, and atomic ordering.</a:t>
            </a:r>
          </a:p>
        </p:txBody>
      </p:sp>
      <p:sp>
        <p:nvSpPr>
          <p:cNvPr id="22" name="Rounded Rectangle 21"/>
          <p:cNvSpPr/>
          <p:nvPr/>
        </p:nvSpPr>
        <p:spPr>
          <a:xfrm>
            <a:off x="6473952" y="3593592"/>
            <a:ext cx="2267712" cy="120700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38544" y="3803904"/>
            <a:ext cx="530352" cy="530352"/>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38544" y="3858768"/>
            <a:ext cx="530352" cy="228600"/>
          </a:xfrm>
          <a:prstGeom prst="rect">
            <a:avLst/>
          </a:prstGeom>
          <a:noFill/>
        </p:spPr>
        <p:txBody>
          <a:bodyPr wrap="square" lIns="0" rIns="0" tIns="0" bIns="0" anchor="t">
            <a:spAutoFit/>
          </a:bodyPr>
          <a:lstStyle/>
          <a:p>
            <a:pPr algn="ctr">
              <a:lnSpc>
                <a:spcPct val="100000"/>
              </a:lnSpc>
            </a:pPr>
            <a:r>
              <a:rPr sz="1300" b="1">
                <a:solidFill>
                  <a:srgbClr val="FFFFFF"/>
                </a:solidFill>
                <a:latin typeface="Aptos"/>
              </a:rPr>
              <a:t>3</a:t>
            </a:r>
          </a:p>
        </p:txBody>
      </p:sp>
      <p:sp>
        <p:nvSpPr>
          <p:cNvPr id="25" name="TextBox 24"/>
          <p:cNvSpPr txBox="1"/>
          <p:nvPr/>
        </p:nvSpPr>
        <p:spPr>
          <a:xfrm>
            <a:off x="7315200" y="3758184"/>
            <a:ext cx="1280160" cy="256032"/>
          </a:xfrm>
          <a:prstGeom prst="rect">
            <a:avLst/>
          </a:prstGeom>
          <a:noFill/>
        </p:spPr>
        <p:txBody>
          <a:bodyPr wrap="square" lIns="0" rIns="0" tIns="0" bIns="0" anchor="t">
            <a:spAutoFit/>
          </a:bodyPr>
          <a:lstStyle/>
          <a:p>
            <a:pPr algn="l">
              <a:lnSpc>
                <a:spcPct val="100000"/>
              </a:lnSpc>
            </a:pPr>
            <a:r>
              <a:rPr sz="1400" b="1">
                <a:solidFill>
                  <a:srgbClr val="542819"/>
                </a:solidFill>
                <a:latin typeface="Aptos"/>
              </a:rPr>
              <a:t>Safe</a:t>
            </a:r>
          </a:p>
        </p:txBody>
      </p:sp>
      <p:sp>
        <p:nvSpPr>
          <p:cNvPr id="26" name="TextBox 25"/>
          <p:cNvSpPr txBox="1"/>
          <p:nvPr/>
        </p:nvSpPr>
        <p:spPr>
          <a:xfrm>
            <a:off x="7315200" y="4087368"/>
            <a:ext cx="1280160" cy="512064"/>
          </a:xfrm>
          <a:prstGeom prst="rect">
            <a:avLst/>
          </a:prstGeom>
          <a:noFill/>
        </p:spPr>
        <p:txBody>
          <a:bodyPr wrap="square" lIns="0" rIns="0" tIns="0" bIns="0" anchor="t">
            <a:spAutoFit/>
          </a:bodyPr>
          <a:lstStyle/>
          <a:p>
            <a:pPr algn="l">
              <a:lnSpc>
                <a:spcPct val="100000"/>
              </a:lnSpc>
            </a:pPr>
            <a:r>
              <a:rPr sz="1050" b="0">
                <a:solidFill>
                  <a:srgbClr val="71635D"/>
                </a:solidFill>
                <a:latin typeface="Aptos"/>
              </a:rPr>
              <a:t>Simulated payment; card values never persisted.</a:t>
            </a:r>
          </a:p>
        </p:txBody>
      </p:sp>
      <p:sp>
        <p:nvSpPr>
          <p:cNvPr id="27" name="Rounded Rectangle 26"/>
          <p:cNvSpPr/>
          <p:nvPr/>
        </p:nvSpPr>
        <p:spPr>
          <a:xfrm>
            <a:off x="8988552" y="3593592"/>
            <a:ext cx="2267712" cy="120700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53144" y="3803904"/>
            <a:ext cx="530352" cy="530352"/>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53144" y="3858768"/>
            <a:ext cx="530352" cy="228600"/>
          </a:xfrm>
          <a:prstGeom prst="rect">
            <a:avLst/>
          </a:prstGeom>
          <a:noFill/>
        </p:spPr>
        <p:txBody>
          <a:bodyPr wrap="square" lIns="0" rIns="0" tIns="0" bIns="0" anchor="t">
            <a:spAutoFit/>
          </a:bodyPr>
          <a:lstStyle/>
          <a:p>
            <a:pPr algn="ctr">
              <a:lnSpc>
                <a:spcPct val="100000"/>
              </a:lnSpc>
            </a:pPr>
            <a:r>
              <a:rPr sz="1300" b="1">
                <a:solidFill>
                  <a:srgbClr val="FFFFFF"/>
                </a:solidFill>
                <a:latin typeface="Aptos"/>
              </a:rPr>
              <a:t>4</a:t>
            </a:r>
          </a:p>
        </p:txBody>
      </p:sp>
      <p:sp>
        <p:nvSpPr>
          <p:cNvPr id="30" name="TextBox 29"/>
          <p:cNvSpPr txBox="1"/>
          <p:nvPr/>
        </p:nvSpPr>
        <p:spPr>
          <a:xfrm>
            <a:off x="9829800" y="3758184"/>
            <a:ext cx="1280160" cy="256032"/>
          </a:xfrm>
          <a:prstGeom prst="rect">
            <a:avLst/>
          </a:prstGeom>
          <a:noFill/>
        </p:spPr>
        <p:txBody>
          <a:bodyPr wrap="square" lIns="0" rIns="0" tIns="0" bIns="0" anchor="t">
            <a:spAutoFit/>
          </a:bodyPr>
          <a:lstStyle/>
          <a:p>
            <a:pPr algn="l">
              <a:lnSpc>
                <a:spcPct val="100000"/>
              </a:lnSpc>
            </a:pPr>
            <a:r>
              <a:rPr sz="1400" b="1">
                <a:solidFill>
                  <a:srgbClr val="542819"/>
                </a:solidFill>
                <a:latin typeface="Aptos"/>
              </a:rPr>
              <a:t>Testable</a:t>
            </a:r>
          </a:p>
        </p:txBody>
      </p:sp>
      <p:sp>
        <p:nvSpPr>
          <p:cNvPr id="31" name="TextBox 30"/>
          <p:cNvSpPr txBox="1"/>
          <p:nvPr/>
        </p:nvSpPr>
        <p:spPr>
          <a:xfrm>
            <a:off x="9829800" y="4087368"/>
            <a:ext cx="1280160" cy="512064"/>
          </a:xfrm>
          <a:prstGeom prst="rect">
            <a:avLst/>
          </a:prstGeom>
          <a:noFill/>
        </p:spPr>
        <p:txBody>
          <a:bodyPr wrap="square" lIns="0" rIns="0" tIns="0" bIns="0" anchor="t">
            <a:spAutoFit/>
          </a:bodyPr>
          <a:lstStyle/>
          <a:p>
            <a:pPr algn="l">
              <a:lnSpc>
                <a:spcPct val="100000"/>
              </a:lnSpc>
            </a:pPr>
            <a:r>
              <a:rPr sz="1050" b="0">
                <a:solidFill>
                  <a:srgbClr val="71635D"/>
                </a:solidFill>
                <a:latin typeface="Aptos"/>
              </a:rPr>
              <a:t>Layered code with provider and widget tests.</a:t>
            </a:r>
          </a:p>
        </p:txBody>
      </p:sp>
      <p:sp>
        <p:nvSpPr>
          <p:cNvPr id="32" name="Rounded Rectangle 31"/>
          <p:cNvSpPr/>
          <p:nvPr/>
        </p:nvSpPr>
        <p:spPr>
          <a:xfrm>
            <a:off x="6473952" y="5084064"/>
            <a:ext cx="4782312" cy="658368"/>
          </a:xfrm>
          <a:prstGeom prst="roundRect">
            <a:avLst>
              <a:gd name="adj" fmla="val 12000"/>
            </a:avLst>
          </a:prstGeom>
          <a:solidFill>
            <a:srgbClr val="E4F1E9"/>
          </a:solidFill>
          <a:ln w="12700">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5285232"/>
            <a:ext cx="4297680" cy="219456"/>
          </a:xfrm>
          <a:prstGeom prst="rect">
            <a:avLst/>
          </a:prstGeom>
          <a:noFill/>
        </p:spPr>
        <p:txBody>
          <a:bodyPr wrap="square" lIns="0" rIns="0" tIns="0" bIns="0" anchor="t">
            <a:spAutoFit/>
          </a:bodyPr>
          <a:lstStyle/>
          <a:p>
            <a:pPr algn="ctr">
              <a:lnSpc>
                <a:spcPct val="100000"/>
              </a:lnSpc>
            </a:pPr>
            <a:r>
              <a:rPr sz="1150" b="1">
                <a:solidFill>
                  <a:srgbClr val="218653"/>
                </a:solidFill>
                <a:latin typeface="Aptos"/>
              </a:rPr>
              <a:t>Outcome: a complete Android demo, not a production payment service.</a:t>
            </a:r>
          </a:p>
        </p:txBody>
      </p:sp>
      <p:sp>
        <p:nvSpPr>
          <p:cNvPr id="34" name="TextBox 33"/>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PROJECT DEMONSTRATION</a:t>
            </a:r>
          </a:p>
        </p:txBody>
      </p:sp>
      <p:sp>
        <p:nvSpPr>
          <p:cNvPr id="35" name="TextBox 34"/>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ARCHITECTURE</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The architecture kept UI state separate from SQL</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A layered design made every action traceable and easier to test.</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87000" y="402336"/>
            <a:ext cx="1207008" cy="329184"/>
          </a:xfrm>
          <a:prstGeom prst="roundRect">
            <a:avLst>
              <a:gd name="adj" fmla="val 12000"/>
            </a:avLst>
          </a:prstGeom>
          <a:solidFill>
            <a:srgbClr val="E4F1E9"/>
          </a:solidFill>
          <a:ln>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41864" y="429768"/>
            <a:ext cx="1097280" cy="201168"/>
          </a:xfrm>
          <a:prstGeom prst="rect">
            <a:avLst/>
          </a:prstGeom>
          <a:noFill/>
        </p:spPr>
        <p:txBody>
          <a:bodyPr wrap="square" lIns="0" rIns="0" tIns="0" bIns="0" anchor="t">
            <a:spAutoFit/>
          </a:bodyPr>
          <a:lstStyle/>
          <a:p>
            <a:pPr algn="ctr">
              <a:lnSpc>
                <a:spcPct val="100000"/>
              </a:lnSpc>
            </a:pPr>
            <a:r>
              <a:rPr sz="900" b="1">
                <a:solidFill>
                  <a:srgbClr val="218653"/>
                </a:solidFill>
                <a:latin typeface="Aptos"/>
              </a:rPr>
              <a:t>2:45–4:00</a:t>
            </a:r>
          </a:p>
        </p:txBody>
      </p:sp>
      <p:sp>
        <p:nvSpPr>
          <p:cNvPr id="8" name="Rounded Rectangle 7"/>
          <p:cNvSpPr/>
          <p:nvPr/>
        </p:nvSpPr>
        <p:spPr>
          <a:xfrm>
            <a:off x="685800" y="2057400"/>
            <a:ext cx="7424927" cy="3840480"/>
          </a:xfrm>
          <a:prstGeom prst="roundRect">
            <a:avLst>
              <a:gd name="adj" fmla="val 12000"/>
            </a:avLst>
          </a:prstGeom>
          <a:solidFill>
            <a:srgbClr val="FFFFFF"/>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igh_level_architecture.png"/>
          <p:cNvPicPr>
            <a:picLocks noChangeAspect="1"/>
          </p:cNvPicPr>
          <p:nvPr/>
        </p:nvPicPr>
        <p:blipFill>
          <a:blip r:embed="rId2"/>
          <a:stretch>
            <a:fillRect/>
          </a:stretch>
        </p:blipFill>
        <p:spPr>
          <a:xfrm>
            <a:off x="1325880" y="2231136"/>
            <a:ext cx="6144768" cy="3456432"/>
          </a:xfrm>
          <a:prstGeom prst="rect">
            <a:avLst/>
          </a:prstGeom>
        </p:spPr>
      </p:pic>
      <p:sp>
        <p:nvSpPr>
          <p:cNvPr id="10" name="Rounded Rectangle 9"/>
          <p:cNvSpPr/>
          <p:nvPr/>
        </p:nvSpPr>
        <p:spPr>
          <a:xfrm>
            <a:off x="8394192" y="2057400"/>
            <a:ext cx="3090672" cy="3840480"/>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2395728"/>
            <a:ext cx="2487168" cy="292608"/>
          </a:xfrm>
          <a:prstGeom prst="rect">
            <a:avLst/>
          </a:prstGeom>
          <a:noFill/>
        </p:spPr>
        <p:txBody>
          <a:bodyPr wrap="square" lIns="0" rIns="0" tIns="0" bIns="0" anchor="t">
            <a:spAutoFit/>
          </a:bodyPr>
          <a:lstStyle/>
          <a:p>
            <a:pPr algn="l">
              <a:lnSpc>
                <a:spcPct val="100000"/>
              </a:lnSpc>
            </a:pPr>
            <a:r>
              <a:rPr sz="1600" b="1">
                <a:solidFill>
                  <a:srgbClr val="542819"/>
                </a:solidFill>
                <a:latin typeface="Aptos"/>
              </a:rPr>
              <a:t>Example data flow</a:t>
            </a:r>
          </a:p>
        </p:txBody>
      </p:sp>
      <p:sp>
        <p:nvSpPr>
          <p:cNvPr id="12" name="Oval 11"/>
          <p:cNvSpPr/>
          <p:nvPr/>
        </p:nvSpPr>
        <p:spPr>
          <a:xfrm>
            <a:off x="8668512" y="2862072"/>
            <a:ext cx="402336" cy="402336"/>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77656" y="2935224"/>
            <a:ext cx="384048" cy="182880"/>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1</a:t>
            </a:r>
          </a:p>
        </p:txBody>
      </p:sp>
      <p:sp>
        <p:nvSpPr>
          <p:cNvPr id="14" name="TextBox 13"/>
          <p:cNvSpPr txBox="1"/>
          <p:nvPr/>
        </p:nvSpPr>
        <p:spPr>
          <a:xfrm>
            <a:off x="9217152" y="2898648"/>
            <a:ext cx="1883664" cy="310896"/>
          </a:xfrm>
          <a:prstGeom prst="rect">
            <a:avLst/>
          </a:prstGeom>
          <a:noFill/>
        </p:spPr>
        <p:txBody>
          <a:bodyPr wrap="square" lIns="0" rIns="0" tIns="0" bIns="0" anchor="t">
            <a:spAutoFit/>
          </a:bodyPr>
          <a:lstStyle/>
          <a:p>
            <a:pPr algn="l">
              <a:lnSpc>
                <a:spcPct val="100000"/>
              </a:lnSpc>
            </a:pPr>
            <a:r>
              <a:rPr sz="1100" b="1">
                <a:solidFill>
                  <a:srgbClr val="201714"/>
                </a:solidFill>
                <a:latin typeface="Aptos"/>
              </a:rPr>
              <a:t>Tap Add to Cart</a:t>
            </a:r>
          </a:p>
        </p:txBody>
      </p:sp>
      <p:sp>
        <p:nvSpPr>
          <p:cNvPr id="15" name="Oval 14"/>
          <p:cNvSpPr/>
          <p:nvPr/>
        </p:nvSpPr>
        <p:spPr>
          <a:xfrm>
            <a:off x="8668512" y="3401568"/>
            <a:ext cx="402336" cy="402336"/>
          </a:xfrm>
          <a:prstGeom prst="ellipse">
            <a:avLst/>
          </a:prstGeom>
          <a:solidFill>
            <a:srgbClr val="F1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77656" y="3474720"/>
            <a:ext cx="384048" cy="182880"/>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2</a:t>
            </a:r>
          </a:p>
        </p:txBody>
      </p:sp>
      <p:sp>
        <p:nvSpPr>
          <p:cNvPr id="17" name="TextBox 16"/>
          <p:cNvSpPr txBox="1"/>
          <p:nvPr/>
        </p:nvSpPr>
        <p:spPr>
          <a:xfrm>
            <a:off x="9217152" y="3438144"/>
            <a:ext cx="1883664" cy="310896"/>
          </a:xfrm>
          <a:prstGeom prst="rect">
            <a:avLst/>
          </a:prstGeom>
          <a:noFill/>
        </p:spPr>
        <p:txBody>
          <a:bodyPr wrap="square" lIns="0" rIns="0" tIns="0" bIns="0" anchor="t">
            <a:spAutoFit/>
          </a:bodyPr>
          <a:lstStyle/>
          <a:p>
            <a:pPr algn="l">
              <a:lnSpc>
                <a:spcPct val="100000"/>
              </a:lnSpc>
            </a:pPr>
            <a:r>
              <a:rPr sz="1100" b="1">
                <a:solidFill>
                  <a:srgbClr val="201714"/>
                </a:solidFill>
                <a:latin typeface="Aptos"/>
              </a:rPr>
              <a:t>CartProvider updates state</a:t>
            </a:r>
          </a:p>
        </p:txBody>
      </p:sp>
      <p:sp>
        <p:nvSpPr>
          <p:cNvPr id="18" name="Oval 17"/>
          <p:cNvSpPr/>
          <p:nvPr/>
        </p:nvSpPr>
        <p:spPr>
          <a:xfrm>
            <a:off x="8668512" y="3941063"/>
            <a:ext cx="402336" cy="402336"/>
          </a:xfrm>
          <a:prstGeom prst="ellipse">
            <a:avLst/>
          </a:prstGeom>
          <a:solidFill>
            <a:srgbClr val="2E62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77656" y="4014215"/>
            <a:ext cx="384048" cy="182880"/>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3</a:t>
            </a:r>
          </a:p>
        </p:txBody>
      </p:sp>
      <p:sp>
        <p:nvSpPr>
          <p:cNvPr id="20" name="TextBox 19"/>
          <p:cNvSpPr txBox="1"/>
          <p:nvPr/>
        </p:nvSpPr>
        <p:spPr>
          <a:xfrm>
            <a:off x="9217152" y="3977639"/>
            <a:ext cx="1883664" cy="310896"/>
          </a:xfrm>
          <a:prstGeom prst="rect">
            <a:avLst/>
          </a:prstGeom>
          <a:noFill/>
        </p:spPr>
        <p:txBody>
          <a:bodyPr wrap="square" lIns="0" rIns="0" tIns="0" bIns="0" anchor="t">
            <a:spAutoFit/>
          </a:bodyPr>
          <a:lstStyle/>
          <a:p>
            <a:pPr algn="l">
              <a:lnSpc>
                <a:spcPct val="100000"/>
              </a:lnSpc>
            </a:pPr>
            <a:r>
              <a:rPr sz="1100" b="1">
                <a:solidFill>
                  <a:srgbClr val="201714"/>
                </a:solidFill>
                <a:latin typeface="Aptos"/>
              </a:rPr>
              <a:t>CartRepository executes SQL</a:t>
            </a:r>
          </a:p>
        </p:txBody>
      </p:sp>
      <p:sp>
        <p:nvSpPr>
          <p:cNvPr id="21" name="Oval 20"/>
          <p:cNvSpPr/>
          <p:nvPr/>
        </p:nvSpPr>
        <p:spPr>
          <a:xfrm>
            <a:off x="8668512" y="4480559"/>
            <a:ext cx="402336" cy="402336"/>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77656" y="4553712"/>
            <a:ext cx="384048" cy="182880"/>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4</a:t>
            </a:r>
          </a:p>
        </p:txBody>
      </p:sp>
      <p:sp>
        <p:nvSpPr>
          <p:cNvPr id="23" name="TextBox 22"/>
          <p:cNvSpPr txBox="1"/>
          <p:nvPr/>
        </p:nvSpPr>
        <p:spPr>
          <a:xfrm>
            <a:off x="9217152" y="4517136"/>
            <a:ext cx="1883664" cy="310896"/>
          </a:xfrm>
          <a:prstGeom prst="rect">
            <a:avLst/>
          </a:prstGeom>
          <a:noFill/>
        </p:spPr>
        <p:txBody>
          <a:bodyPr wrap="square" lIns="0" rIns="0" tIns="0" bIns="0" anchor="t">
            <a:spAutoFit/>
          </a:bodyPr>
          <a:lstStyle/>
          <a:p>
            <a:pPr algn="l">
              <a:lnSpc>
                <a:spcPct val="100000"/>
              </a:lnSpc>
            </a:pPr>
            <a:r>
              <a:rPr sz="1100" b="1">
                <a:solidFill>
                  <a:srgbClr val="201714"/>
                </a:solidFill>
                <a:latin typeface="Aptos"/>
              </a:rPr>
              <a:t>SQLite persists quantity</a:t>
            </a:r>
          </a:p>
        </p:txBody>
      </p:sp>
      <p:sp>
        <p:nvSpPr>
          <p:cNvPr id="24" name="Oval 23"/>
          <p:cNvSpPr/>
          <p:nvPr/>
        </p:nvSpPr>
        <p:spPr>
          <a:xfrm>
            <a:off x="8668512" y="5020055"/>
            <a:ext cx="402336" cy="402336"/>
          </a:xfrm>
          <a:prstGeom prst="ellipse">
            <a:avLst/>
          </a:prstGeom>
          <a:solidFill>
            <a:srgbClr val="5428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77656" y="5093207"/>
            <a:ext cx="384048" cy="182880"/>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5</a:t>
            </a:r>
          </a:p>
        </p:txBody>
      </p:sp>
      <p:sp>
        <p:nvSpPr>
          <p:cNvPr id="26" name="TextBox 25"/>
          <p:cNvSpPr txBox="1"/>
          <p:nvPr/>
        </p:nvSpPr>
        <p:spPr>
          <a:xfrm>
            <a:off x="9217152" y="5056631"/>
            <a:ext cx="1883664" cy="310896"/>
          </a:xfrm>
          <a:prstGeom prst="rect">
            <a:avLst/>
          </a:prstGeom>
          <a:noFill/>
        </p:spPr>
        <p:txBody>
          <a:bodyPr wrap="square" lIns="0" rIns="0" tIns="0" bIns="0" anchor="t">
            <a:spAutoFit/>
          </a:bodyPr>
          <a:lstStyle/>
          <a:p>
            <a:pPr algn="l">
              <a:lnSpc>
                <a:spcPct val="100000"/>
              </a:lnSpc>
            </a:pPr>
            <a:r>
              <a:rPr sz="1100" b="1">
                <a:solidFill>
                  <a:srgbClr val="201714"/>
                </a:solidFill>
                <a:latin typeface="Aptos"/>
              </a:rPr>
              <a:t>Provider reloads the cart</a:t>
            </a:r>
          </a:p>
        </p:txBody>
      </p:sp>
      <p:sp>
        <p:nvSpPr>
          <p:cNvPr id="27" name="TextBox 26"/>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PROJECT DEMONSTRATION</a:t>
            </a:r>
          </a:p>
        </p:txBody>
      </p:sp>
      <p:sp>
        <p:nvSpPr>
          <p:cNvPr id="28" name="TextBox 27"/>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OBJECT-ORIENTED DEVELOPMENT</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OOP concepts appeared in working code—not only diagrams</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Dart classes modelled the domain and isolated change.</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87000" y="402336"/>
            <a:ext cx="1207008" cy="329184"/>
          </a:xfrm>
          <a:prstGeom prst="roundRect">
            <a:avLst>
              <a:gd name="adj" fmla="val 12000"/>
            </a:avLst>
          </a:prstGeom>
          <a:solidFill>
            <a:srgbClr val="E4F1E9"/>
          </a:solidFill>
          <a:ln>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41864" y="429768"/>
            <a:ext cx="1097280" cy="201168"/>
          </a:xfrm>
          <a:prstGeom prst="rect">
            <a:avLst/>
          </a:prstGeom>
          <a:noFill/>
        </p:spPr>
        <p:txBody>
          <a:bodyPr wrap="square" lIns="0" rIns="0" tIns="0" bIns="0" anchor="t">
            <a:spAutoFit/>
          </a:bodyPr>
          <a:lstStyle/>
          <a:p>
            <a:pPr algn="ctr">
              <a:lnSpc>
                <a:spcPct val="100000"/>
              </a:lnSpc>
            </a:pPr>
            <a:r>
              <a:rPr sz="900" b="1">
                <a:solidFill>
                  <a:srgbClr val="218653"/>
                </a:solidFill>
                <a:latin typeface="Aptos"/>
              </a:rPr>
              <a:t>4:00–5:15</a:t>
            </a:r>
          </a:p>
        </p:txBody>
      </p:sp>
      <p:sp>
        <p:nvSpPr>
          <p:cNvPr id="8" name="Rounded Rectangle 7"/>
          <p:cNvSpPr/>
          <p:nvPr/>
        </p:nvSpPr>
        <p:spPr>
          <a:xfrm>
            <a:off x="685800" y="2075688"/>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276856"/>
            <a:ext cx="2523744" cy="256032"/>
          </a:xfrm>
          <a:prstGeom prst="rect">
            <a:avLst/>
          </a:prstGeom>
          <a:noFill/>
        </p:spPr>
        <p:txBody>
          <a:bodyPr wrap="square" lIns="0" rIns="0" tIns="0" bIns="0" anchor="t">
            <a:spAutoFit/>
          </a:bodyPr>
          <a:lstStyle/>
          <a:p>
            <a:pPr algn="l">
              <a:lnSpc>
                <a:spcPct val="100000"/>
              </a:lnSpc>
            </a:pPr>
            <a:r>
              <a:rPr sz="1500" b="1">
                <a:solidFill>
                  <a:srgbClr val="542819"/>
                </a:solidFill>
                <a:latin typeface="Aptos"/>
              </a:rPr>
              <a:t>Encapsulation</a:t>
            </a:r>
          </a:p>
        </p:txBody>
      </p:sp>
      <p:sp>
        <p:nvSpPr>
          <p:cNvPr id="10" name="TextBox 9"/>
          <p:cNvSpPr txBox="1"/>
          <p:nvPr/>
        </p:nvSpPr>
        <p:spPr>
          <a:xfrm>
            <a:off x="905256" y="2615184"/>
            <a:ext cx="2523744" cy="640080"/>
          </a:xfrm>
          <a:prstGeom prst="rect">
            <a:avLst/>
          </a:prstGeom>
          <a:noFill/>
        </p:spPr>
        <p:txBody>
          <a:bodyPr wrap="square" lIns="0" rIns="0" tIns="0" bIns="0" anchor="t">
            <a:spAutoFit/>
          </a:bodyPr>
          <a:lstStyle/>
          <a:p>
            <a:pPr algn="l">
              <a:lnSpc>
                <a:spcPct val="100000"/>
              </a:lnSpc>
            </a:pPr>
            <a:r>
              <a:rPr sz="1019" b="0">
                <a:solidFill>
                  <a:srgbClr val="201714"/>
                </a:solidFill>
                <a:latin typeface="Aptos"/>
              </a:rPr>
              <a:t>Private provider state such as _items and _isLoading was exposed through controlled getters and methods.</a:t>
            </a:r>
          </a:p>
        </p:txBody>
      </p:sp>
      <p:sp>
        <p:nvSpPr>
          <p:cNvPr id="11" name="TextBox 10"/>
          <p:cNvSpPr txBox="1"/>
          <p:nvPr/>
        </p:nvSpPr>
        <p:spPr>
          <a:xfrm>
            <a:off x="905256" y="3337560"/>
            <a:ext cx="2523744" cy="164592"/>
          </a:xfrm>
          <a:prstGeom prst="rect">
            <a:avLst/>
          </a:prstGeom>
          <a:noFill/>
        </p:spPr>
        <p:txBody>
          <a:bodyPr wrap="square" lIns="0" rIns="0" tIns="0" bIns="0" anchor="t">
            <a:spAutoFit/>
          </a:bodyPr>
          <a:lstStyle/>
          <a:p>
            <a:pPr algn="l">
              <a:lnSpc>
                <a:spcPct val="100000"/>
              </a:lnSpc>
            </a:pPr>
            <a:r>
              <a:rPr sz="830" b="1">
                <a:solidFill>
                  <a:srgbClr val="CC3D05"/>
                </a:solidFill>
                <a:latin typeface="Aptos"/>
              </a:rPr>
              <a:t>CartProvider • OrderProvider</a:t>
            </a:r>
          </a:p>
        </p:txBody>
      </p:sp>
      <p:sp>
        <p:nvSpPr>
          <p:cNvPr id="12" name="Rounded Rectangle 11"/>
          <p:cNvSpPr/>
          <p:nvPr/>
        </p:nvSpPr>
        <p:spPr>
          <a:xfrm>
            <a:off x="3986784" y="2075688"/>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2276856"/>
            <a:ext cx="2523744" cy="256032"/>
          </a:xfrm>
          <a:prstGeom prst="rect">
            <a:avLst/>
          </a:prstGeom>
          <a:noFill/>
        </p:spPr>
        <p:txBody>
          <a:bodyPr wrap="square" lIns="0" rIns="0" tIns="0" bIns="0" anchor="t">
            <a:spAutoFit/>
          </a:bodyPr>
          <a:lstStyle/>
          <a:p>
            <a:pPr algn="l">
              <a:lnSpc>
                <a:spcPct val="100000"/>
              </a:lnSpc>
            </a:pPr>
            <a:r>
              <a:rPr sz="1500" b="1">
                <a:solidFill>
                  <a:srgbClr val="542819"/>
                </a:solidFill>
                <a:latin typeface="Aptos"/>
              </a:rPr>
              <a:t>Abstraction</a:t>
            </a:r>
          </a:p>
        </p:txBody>
      </p:sp>
      <p:sp>
        <p:nvSpPr>
          <p:cNvPr id="14" name="TextBox 13"/>
          <p:cNvSpPr txBox="1"/>
          <p:nvPr/>
        </p:nvSpPr>
        <p:spPr>
          <a:xfrm>
            <a:off x="4206240" y="2615184"/>
            <a:ext cx="2523744" cy="640080"/>
          </a:xfrm>
          <a:prstGeom prst="rect">
            <a:avLst/>
          </a:prstGeom>
          <a:noFill/>
        </p:spPr>
        <p:txBody>
          <a:bodyPr wrap="square" lIns="0" rIns="0" tIns="0" bIns="0" anchor="t">
            <a:spAutoFit/>
          </a:bodyPr>
          <a:lstStyle/>
          <a:p>
            <a:pPr algn="l">
              <a:lnSpc>
                <a:spcPct val="100000"/>
              </a:lnSpc>
            </a:pPr>
            <a:r>
              <a:rPr sz="1019" b="0">
                <a:solidFill>
                  <a:srgbClr val="201714"/>
                </a:solidFill>
                <a:latin typeface="Aptos"/>
              </a:rPr>
              <a:t>Repositories hid SQL details from widgets; screens worked with domain operations instead of database statements.</a:t>
            </a:r>
          </a:p>
        </p:txBody>
      </p:sp>
      <p:sp>
        <p:nvSpPr>
          <p:cNvPr id="15" name="TextBox 14"/>
          <p:cNvSpPr txBox="1"/>
          <p:nvPr/>
        </p:nvSpPr>
        <p:spPr>
          <a:xfrm>
            <a:off x="4206240" y="3337560"/>
            <a:ext cx="2523744" cy="164592"/>
          </a:xfrm>
          <a:prstGeom prst="rect">
            <a:avLst/>
          </a:prstGeom>
          <a:noFill/>
        </p:spPr>
        <p:txBody>
          <a:bodyPr wrap="square" lIns="0" rIns="0" tIns="0" bIns="0" anchor="t">
            <a:spAutoFit/>
          </a:bodyPr>
          <a:lstStyle/>
          <a:p>
            <a:pPr algn="l">
              <a:lnSpc>
                <a:spcPct val="100000"/>
              </a:lnSpc>
            </a:pPr>
            <a:r>
              <a:rPr sz="830" b="1">
                <a:solidFill>
                  <a:srgbClr val="CC3D05"/>
                </a:solidFill>
                <a:latin typeface="Aptos"/>
              </a:rPr>
              <a:t>CartRepository • OrderRepository</a:t>
            </a:r>
          </a:p>
        </p:txBody>
      </p:sp>
      <p:sp>
        <p:nvSpPr>
          <p:cNvPr id="16" name="Rounded Rectangle 15"/>
          <p:cNvSpPr/>
          <p:nvPr/>
        </p:nvSpPr>
        <p:spPr>
          <a:xfrm>
            <a:off x="7287768" y="2075688"/>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07223" y="2276856"/>
            <a:ext cx="2523744" cy="256032"/>
          </a:xfrm>
          <a:prstGeom prst="rect">
            <a:avLst/>
          </a:prstGeom>
          <a:noFill/>
        </p:spPr>
        <p:txBody>
          <a:bodyPr wrap="square" lIns="0" rIns="0" tIns="0" bIns="0" anchor="t">
            <a:spAutoFit/>
          </a:bodyPr>
          <a:lstStyle/>
          <a:p>
            <a:pPr algn="l">
              <a:lnSpc>
                <a:spcPct val="100000"/>
              </a:lnSpc>
            </a:pPr>
            <a:r>
              <a:rPr sz="1500" b="1">
                <a:solidFill>
                  <a:srgbClr val="542819"/>
                </a:solidFill>
                <a:latin typeface="Aptos"/>
              </a:rPr>
              <a:t>Inheritance</a:t>
            </a:r>
          </a:p>
        </p:txBody>
      </p:sp>
      <p:sp>
        <p:nvSpPr>
          <p:cNvPr id="18" name="TextBox 17"/>
          <p:cNvSpPr txBox="1"/>
          <p:nvPr/>
        </p:nvSpPr>
        <p:spPr>
          <a:xfrm>
            <a:off x="7507223" y="2615184"/>
            <a:ext cx="2523744" cy="640080"/>
          </a:xfrm>
          <a:prstGeom prst="rect">
            <a:avLst/>
          </a:prstGeom>
          <a:noFill/>
        </p:spPr>
        <p:txBody>
          <a:bodyPr wrap="square" lIns="0" rIns="0" tIns="0" bIns="0" anchor="t">
            <a:spAutoFit/>
          </a:bodyPr>
          <a:lstStyle/>
          <a:p>
            <a:pPr algn="l">
              <a:lnSpc>
                <a:spcPct val="100000"/>
              </a:lnSpc>
            </a:pPr>
            <a:r>
              <a:rPr sz="1019" b="0">
                <a:solidFill>
                  <a:srgbClr val="201714"/>
                </a:solidFill>
                <a:latin typeface="Aptos"/>
              </a:rPr>
              <a:t>Widgets extended StatelessWidget or StatefulWidget; providers extended ChangeNotifier.</a:t>
            </a:r>
          </a:p>
        </p:txBody>
      </p:sp>
      <p:sp>
        <p:nvSpPr>
          <p:cNvPr id="19" name="TextBox 18"/>
          <p:cNvSpPr txBox="1"/>
          <p:nvPr/>
        </p:nvSpPr>
        <p:spPr>
          <a:xfrm>
            <a:off x="7507223" y="3337560"/>
            <a:ext cx="2523744" cy="164592"/>
          </a:xfrm>
          <a:prstGeom prst="rect">
            <a:avLst/>
          </a:prstGeom>
          <a:noFill/>
        </p:spPr>
        <p:txBody>
          <a:bodyPr wrap="square" lIns="0" rIns="0" tIns="0" bIns="0" anchor="t">
            <a:spAutoFit/>
          </a:bodyPr>
          <a:lstStyle/>
          <a:p>
            <a:pPr algn="l">
              <a:lnSpc>
                <a:spcPct val="100000"/>
              </a:lnSpc>
            </a:pPr>
            <a:r>
              <a:rPr sz="830" b="1">
                <a:solidFill>
                  <a:srgbClr val="CC3D05"/>
                </a:solidFill>
                <a:latin typeface="Aptos"/>
              </a:rPr>
              <a:t>ProfileScreen • ProductCard</a:t>
            </a:r>
          </a:p>
        </p:txBody>
      </p:sp>
      <p:sp>
        <p:nvSpPr>
          <p:cNvPr id="20" name="Rounded Rectangle 19"/>
          <p:cNvSpPr/>
          <p:nvPr/>
        </p:nvSpPr>
        <p:spPr>
          <a:xfrm>
            <a:off x="685800" y="3995928"/>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197096"/>
            <a:ext cx="2523744" cy="256032"/>
          </a:xfrm>
          <a:prstGeom prst="rect">
            <a:avLst/>
          </a:prstGeom>
          <a:noFill/>
        </p:spPr>
        <p:txBody>
          <a:bodyPr wrap="square" lIns="0" rIns="0" tIns="0" bIns="0" anchor="t">
            <a:spAutoFit/>
          </a:bodyPr>
          <a:lstStyle/>
          <a:p>
            <a:pPr algn="l">
              <a:lnSpc>
                <a:spcPct val="100000"/>
              </a:lnSpc>
            </a:pPr>
            <a:r>
              <a:rPr sz="1500" b="1">
                <a:solidFill>
                  <a:srgbClr val="542819"/>
                </a:solidFill>
                <a:latin typeface="Aptos"/>
              </a:rPr>
              <a:t>Polymorphism</a:t>
            </a:r>
          </a:p>
        </p:txBody>
      </p:sp>
      <p:sp>
        <p:nvSpPr>
          <p:cNvPr id="22" name="TextBox 21"/>
          <p:cNvSpPr txBox="1"/>
          <p:nvPr/>
        </p:nvSpPr>
        <p:spPr>
          <a:xfrm>
            <a:off x="905256" y="4535424"/>
            <a:ext cx="2523744" cy="640080"/>
          </a:xfrm>
          <a:prstGeom prst="rect">
            <a:avLst/>
          </a:prstGeom>
          <a:noFill/>
        </p:spPr>
        <p:txBody>
          <a:bodyPr wrap="square" lIns="0" rIns="0" tIns="0" bIns="0" anchor="t">
            <a:spAutoFit/>
          </a:bodyPr>
          <a:lstStyle/>
          <a:p>
            <a:pPr algn="l">
              <a:lnSpc>
                <a:spcPct val="100000"/>
              </a:lnSpc>
            </a:pPr>
            <a:r>
              <a:rPr sz="1019" b="0">
                <a:solidFill>
                  <a:srgbClr val="201714"/>
                </a:solidFill>
                <a:latin typeface="Aptos"/>
              </a:rPr>
              <a:t>Test repositories overrode methods to simulate success and failure without changing production providers.</a:t>
            </a:r>
          </a:p>
        </p:txBody>
      </p:sp>
      <p:sp>
        <p:nvSpPr>
          <p:cNvPr id="23" name="TextBox 22"/>
          <p:cNvSpPr txBox="1"/>
          <p:nvPr/>
        </p:nvSpPr>
        <p:spPr>
          <a:xfrm>
            <a:off x="905256" y="5257800"/>
            <a:ext cx="2523744" cy="164592"/>
          </a:xfrm>
          <a:prstGeom prst="rect">
            <a:avLst/>
          </a:prstGeom>
          <a:noFill/>
        </p:spPr>
        <p:txBody>
          <a:bodyPr wrap="square" lIns="0" rIns="0" tIns="0" bIns="0" anchor="t">
            <a:spAutoFit/>
          </a:bodyPr>
          <a:lstStyle/>
          <a:p>
            <a:pPr algn="l">
              <a:lnSpc>
                <a:spcPct val="100000"/>
              </a:lnSpc>
            </a:pPr>
            <a:r>
              <a:rPr sz="830" b="1">
                <a:solidFill>
                  <a:srgbClr val="CC3D05"/>
                </a:solidFill>
                <a:latin typeface="Aptos"/>
              </a:rPr>
              <a:t>Repository stubs in tests</a:t>
            </a:r>
          </a:p>
        </p:txBody>
      </p:sp>
      <p:sp>
        <p:nvSpPr>
          <p:cNvPr id="24" name="Rounded Rectangle 23"/>
          <p:cNvSpPr/>
          <p:nvPr/>
        </p:nvSpPr>
        <p:spPr>
          <a:xfrm>
            <a:off x="3986784" y="3995928"/>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06240" y="4197096"/>
            <a:ext cx="2523744" cy="256032"/>
          </a:xfrm>
          <a:prstGeom prst="rect">
            <a:avLst/>
          </a:prstGeom>
          <a:noFill/>
        </p:spPr>
        <p:txBody>
          <a:bodyPr wrap="square" lIns="0" rIns="0" tIns="0" bIns="0" anchor="t">
            <a:spAutoFit/>
          </a:bodyPr>
          <a:lstStyle/>
          <a:p>
            <a:pPr algn="l">
              <a:lnSpc>
                <a:spcPct val="100000"/>
              </a:lnSpc>
            </a:pPr>
            <a:r>
              <a:rPr sz="1500" b="1">
                <a:solidFill>
                  <a:srgbClr val="542819"/>
                </a:solidFill>
                <a:latin typeface="Aptos"/>
              </a:rPr>
              <a:t>Composition</a:t>
            </a:r>
          </a:p>
        </p:txBody>
      </p:sp>
      <p:sp>
        <p:nvSpPr>
          <p:cNvPr id="26" name="TextBox 25"/>
          <p:cNvSpPr txBox="1"/>
          <p:nvPr/>
        </p:nvSpPr>
        <p:spPr>
          <a:xfrm>
            <a:off x="4206240" y="4535424"/>
            <a:ext cx="2523744" cy="640080"/>
          </a:xfrm>
          <a:prstGeom prst="rect">
            <a:avLst/>
          </a:prstGeom>
          <a:noFill/>
        </p:spPr>
        <p:txBody>
          <a:bodyPr wrap="square" lIns="0" rIns="0" tIns="0" bIns="0" anchor="t">
            <a:spAutoFit/>
          </a:bodyPr>
          <a:lstStyle/>
          <a:p>
            <a:pPr algn="l">
              <a:lnSpc>
                <a:spcPct val="100000"/>
              </a:lnSpc>
            </a:pPr>
            <a:r>
              <a:rPr sz="1019" b="0">
                <a:solidFill>
                  <a:srgbClr val="201714"/>
                </a:solidFill>
                <a:latin typeface="Aptos"/>
              </a:rPr>
              <a:t>MultiProvider assembled services, while screens composed reusable cards, images, banners, and navigation.</a:t>
            </a:r>
          </a:p>
        </p:txBody>
      </p:sp>
      <p:sp>
        <p:nvSpPr>
          <p:cNvPr id="27" name="TextBox 26"/>
          <p:cNvSpPr txBox="1"/>
          <p:nvPr/>
        </p:nvSpPr>
        <p:spPr>
          <a:xfrm>
            <a:off x="4206240" y="5257800"/>
            <a:ext cx="2523744" cy="164592"/>
          </a:xfrm>
          <a:prstGeom prst="rect">
            <a:avLst/>
          </a:prstGeom>
          <a:noFill/>
        </p:spPr>
        <p:txBody>
          <a:bodyPr wrap="square" lIns="0" rIns="0" tIns="0" bIns="0" anchor="t">
            <a:spAutoFit/>
          </a:bodyPr>
          <a:lstStyle/>
          <a:p>
            <a:pPr algn="l">
              <a:lnSpc>
                <a:spcPct val="100000"/>
              </a:lnSpc>
            </a:pPr>
            <a:r>
              <a:rPr sz="830" b="1">
                <a:solidFill>
                  <a:srgbClr val="CC3D05"/>
                </a:solidFill>
                <a:latin typeface="Aptos"/>
              </a:rPr>
              <a:t>QuickBiteApp • MainShell</a:t>
            </a:r>
          </a:p>
        </p:txBody>
      </p:sp>
      <p:sp>
        <p:nvSpPr>
          <p:cNvPr id="28" name="Rounded Rectangle 27"/>
          <p:cNvSpPr/>
          <p:nvPr/>
        </p:nvSpPr>
        <p:spPr>
          <a:xfrm>
            <a:off x="7287768" y="3995928"/>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07223" y="4197096"/>
            <a:ext cx="2523744" cy="256032"/>
          </a:xfrm>
          <a:prstGeom prst="rect">
            <a:avLst/>
          </a:prstGeom>
          <a:noFill/>
        </p:spPr>
        <p:txBody>
          <a:bodyPr wrap="square" lIns="0" rIns="0" tIns="0" bIns="0" anchor="t">
            <a:spAutoFit/>
          </a:bodyPr>
          <a:lstStyle/>
          <a:p>
            <a:pPr algn="l">
              <a:lnSpc>
                <a:spcPct val="100000"/>
              </a:lnSpc>
            </a:pPr>
            <a:r>
              <a:rPr sz="1500" b="1">
                <a:solidFill>
                  <a:srgbClr val="542819"/>
                </a:solidFill>
                <a:latin typeface="Aptos"/>
              </a:rPr>
              <a:t>Typed models</a:t>
            </a:r>
          </a:p>
        </p:txBody>
      </p:sp>
      <p:sp>
        <p:nvSpPr>
          <p:cNvPr id="30" name="TextBox 29"/>
          <p:cNvSpPr txBox="1"/>
          <p:nvPr/>
        </p:nvSpPr>
        <p:spPr>
          <a:xfrm>
            <a:off x="7507223" y="4535424"/>
            <a:ext cx="2523744" cy="640080"/>
          </a:xfrm>
          <a:prstGeom prst="rect">
            <a:avLst/>
          </a:prstGeom>
          <a:noFill/>
        </p:spPr>
        <p:txBody>
          <a:bodyPr wrap="square" lIns="0" rIns="0" tIns="0" bIns="0" anchor="t">
            <a:spAutoFit/>
          </a:bodyPr>
          <a:lstStyle/>
          <a:p>
            <a:pPr algn="l">
              <a:lnSpc>
                <a:spcPct val="100000"/>
              </a:lnSpc>
            </a:pPr>
            <a:r>
              <a:rPr sz="1019" b="0">
                <a:solidFill>
                  <a:srgbClr val="201714"/>
                </a:solidFill>
                <a:latin typeface="Aptos"/>
              </a:rPr>
              <a:t>Product, CartItem, OrderModel, AppUser, and ChatMessage protected data shape across layers.</a:t>
            </a:r>
          </a:p>
        </p:txBody>
      </p:sp>
      <p:sp>
        <p:nvSpPr>
          <p:cNvPr id="31" name="TextBox 30"/>
          <p:cNvSpPr txBox="1"/>
          <p:nvPr/>
        </p:nvSpPr>
        <p:spPr>
          <a:xfrm>
            <a:off x="7507223" y="5257800"/>
            <a:ext cx="2523744" cy="164592"/>
          </a:xfrm>
          <a:prstGeom prst="rect">
            <a:avLst/>
          </a:prstGeom>
          <a:noFill/>
        </p:spPr>
        <p:txBody>
          <a:bodyPr wrap="square" lIns="0" rIns="0" tIns="0" bIns="0" anchor="t">
            <a:spAutoFit/>
          </a:bodyPr>
          <a:lstStyle/>
          <a:p>
            <a:pPr algn="l">
              <a:lnSpc>
                <a:spcPct val="100000"/>
              </a:lnSpc>
            </a:pPr>
            <a:r>
              <a:rPr sz="830" b="1">
                <a:solidFill>
                  <a:srgbClr val="CC3D05"/>
                </a:solidFill>
                <a:latin typeface="Aptos"/>
              </a:rPr>
              <a:t>fromMap • toMap • copyWith</a:t>
            </a:r>
          </a:p>
        </p:txBody>
      </p:sp>
      <p:sp>
        <p:nvSpPr>
          <p:cNvPr id="32" name="TextBox 31"/>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PROJECT DEMONSTRATION</a:t>
            </a:r>
          </a:p>
        </p:txBody>
      </p:sp>
      <p:sp>
        <p:nvSpPr>
          <p:cNvPr id="33" name="TextBox 32"/>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542819"/>
        </a:solidFill>
        <a:effectLst/>
      </p:bgPr>
    </p:bg>
    <p:spTree>
      <p:nvGrpSpPr>
        <p:cNvPr id="1" name=""/>
        <p:cNvGrpSpPr/>
        <p:nvPr/>
      </p:nvGrpSpPr>
      <p:grpSpPr/>
      <p:sp>
        <p:nvSpPr>
          <p:cNvPr id="2" name="TextBox 1"/>
          <p:cNvSpPr txBox="1"/>
          <p:nvPr/>
        </p:nvSpPr>
        <p:spPr>
          <a:xfrm>
            <a:off x="713232" y="640080"/>
            <a:ext cx="5577840" cy="320040"/>
          </a:xfrm>
          <a:prstGeom prst="rect">
            <a:avLst/>
          </a:prstGeom>
          <a:noFill/>
        </p:spPr>
        <p:txBody>
          <a:bodyPr wrap="square" lIns="0" rIns="0" tIns="0" bIns="0" anchor="t">
            <a:spAutoFit/>
          </a:bodyPr>
          <a:lstStyle/>
          <a:p>
            <a:pPr algn="l">
              <a:lnSpc>
                <a:spcPct val="100000"/>
              </a:lnSpc>
            </a:pPr>
            <a:r>
              <a:rPr sz="1200" b="1">
                <a:solidFill>
                  <a:srgbClr val="F7C7AD"/>
                </a:solidFill>
                <a:latin typeface="Aptos"/>
              </a:rPr>
              <a:t>START THE SCREEN RECORDING</a:t>
            </a:r>
          </a:p>
        </p:txBody>
      </p:sp>
      <p:sp>
        <p:nvSpPr>
          <p:cNvPr id="3" name="TextBox 2"/>
          <p:cNvSpPr txBox="1"/>
          <p:nvPr/>
        </p:nvSpPr>
        <p:spPr>
          <a:xfrm>
            <a:off x="713232" y="1124712"/>
            <a:ext cx="6583680" cy="658368"/>
          </a:xfrm>
          <a:prstGeom prst="rect">
            <a:avLst/>
          </a:prstGeom>
          <a:noFill/>
        </p:spPr>
        <p:txBody>
          <a:bodyPr wrap="square" lIns="0" rIns="0" tIns="0" bIns="0" anchor="t">
            <a:spAutoFit/>
          </a:bodyPr>
          <a:lstStyle/>
          <a:p>
            <a:pPr algn="l">
              <a:lnSpc>
                <a:spcPct val="100000"/>
              </a:lnSpc>
            </a:pPr>
            <a:r>
              <a:rPr sz="3200" b="1">
                <a:solidFill>
                  <a:srgbClr val="FFFFFF"/>
                </a:solidFill>
                <a:latin typeface="Aptos Display"/>
              </a:rPr>
              <a:t>Live system demonstration</a:t>
            </a:r>
          </a:p>
        </p:txBody>
      </p:sp>
      <p:sp>
        <p:nvSpPr>
          <p:cNvPr id="4" name="TextBox 3"/>
          <p:cNvSpPr txBox="1"/>
          <p:nvPr/>
        </p:nvSpPr>
        <p:spPr>
          <a:xfrm>
            <a:off x="731520" y="1901952"/>
            <a:ext cx="6263640" cy="365760"/>
          </a:xfrm>
          <a:prstGeom prst="rect">
            <a:avLst/>
          </a:prstGeom>
          <a:noFill/>
        </p:spPr>
        <p:txBody>
          <a:bodyPr wrap="square" lIns="0" rIns="0" tIns="0" bIns="0" anchor="t">
            <a:spAutoFit/>
          </a:bodyPr>
          <a:lstStyle/>
          <a:p>
            <a:pPr algn="l">
              <a:lnSpc>
                <a:spcPct val="100000"/>
              </a:lnSpc>
            </a:pPr>
            <a:r>
              <a:rPr sz="1500" b="0">
                <a:solidFill>
                  <a:srgbClr val="F8DCCD"/>
                </a:solidFill>
                <a:latin typeface="Aptos"/>
              </a:rPr>
              <a:t>Follow one continuous story so every operation has a reason.</a:t>
            </a:r>
          </a:p>
        </p:txBody>
      </p:sp>
      <p:sp>
        <p:nvSpPr>
          <p:cNvPr id="5" name="TextBox 4"/>
          <p:cNvSpPr txBox="1"/>
          <p:nvPr/>
        </p:nvSpPr>
        <p:spPr>
          <a:xfrm>
            <a:off x="749808" y="2743200"/>
            <a:ext cx="457200" cy="237744"/>
          </a:xfrm>
          <a:prstGeom prst="rect">
            <a:avLst/>
          </a:prstGeom>
          <a:noFill/>
        </p:spPr>
        <p:txBody>
          <a:bodyPr wrap="square" lIns="0" rIns="0" tIns="0" bIns="0" anchor="t">
            <a:spAutoFit/>
          </a:bodyPr>
          <a:lstStyle/>
          <a:p>
            <a:pPr algn="l">
              <a:lnSpc>
                <a:spcPct val="100000"/>
              </a:lnSpc>
            </a:pPr>
            <a:r>
              <a:rPr sz="1000" b="1">
                <a:solidFill>
                  <a:srgbClr val="F16A21"/>
                </a:solidFill>
                <a:latin typeface="Aptos"/>
              </a:rPr>
              <a:t>01</a:t>
            </a:r>
          </a:p>
        </p:txBody>
      </p:sp>
      <p:sp>
        <p:nvSpPr>
          <p:cNvPr id="6" name="TextBox 5"/>
          <p:cNvSpPr txBox="1"/>
          <p:nvPr/>
        </p:nvSpPr>
        <p:spPr>
          <a:xfrm>
            <a:off x="1325880" y="2715768"/>
            <a:ext cx="1554480" cy="274320"/>
          </a:xfrm>
          <a:prstGeom prst="rect">
            <a:avLst/>
          </a:prstGeom>
          <a:noFill/>
        </p:spPr>
        <p:txBody>
          <a:bodyPr wrap="square" lIns="0" rIns="0" tIns="0" bIns="0" anchor="t">
            <a:spAutoFit/>
          </a:bodyPr>
          <a:lstStyle/>
          <a:p>
            <a:pPr algn="l">
              <a:lnSpc>
                <a:spcPct val="100000"/>
              </a:lnSpc>
            </a:pPr>
            <a:r>
              <a:rPr sz="1500" b="1">
                <a:solidFill>
                  <a:srgbClr val="FFFFFF"/>
                </a:solidFill>
                <a:latin typeface="Aptos"/>
              </a:rPr>
              <a:t>Sign in</a:t>
            </a:r>
          </a:p>
        </p:txBody>
      </p:sp>
      <p:sp>
        <p:nvSpPr>
          <p:cNvPr id="7" name="TextBox 6"/>
          <p:cNvSpPr txBox="1"/>
          <p:nvPr/>
        </p:nvSpPr>
        <p:spPr>
          <a:xfrm>
            <a:off x="2926080" y="2743200"/>
            <a:ext cx="3337560" cy="256032"/>
          </a:xfrm>
          <a:prstGeom prst="rect">
            <a:avLst/>
          </a:prstGeom>
          <a:noFill/>
        </p:spPr>
        <p:txBody>
          <a:bodyPr wrap="square" lIns="0" rIns="0" tIns="0" bIns="0" anchor="t">
            <a:spAutoFit/>
          </a:bodyPr>
          <a:lstStyle/>
          <a:p>
            <a:pPr algn="l">
              <a:lnSpc>
                <a:spcPct val="100000"/>
              </a:lnSpc>
            </a:pPr>
            <a:r>
              <a:rPr sz="1100" b="0">
                <a:solidFill>
                  <a:srgbClr val="E9CDBF"/>
                </a:solidFill>
                <a:latin typeface="Aptos"/>
              </a:rPr>
              <a:t>Show local account entry</a:t>
            </a:r>
          </a:p>
        </p:txBody>
      </p:sp>
      <p:sp>
        <p:nvSpPr>
          <p:cNvPr id="8" name="TextBox 7"/>
          <p:cNvSpPr txBox="1"/>
          <p:nvPr/>
        </p:nvSpPr>
        <p:spPr>
          <a:xfrm>
            <a:off x="749808" y="3328416"/>
            <a:ext cx="457200" cy="237744"/>
          </a:xfrm>
          <a:prstGeom prst="rect">
            <a:avLst/>
          </a:prstGeom>
          <a:noFill/>
        </p:spPr>
        <p:txBody>
          <a:bodyPr wrap="square" lIns="0" rIns="0" tIns="0" bIns="0" anchor="t">
            <a:spAutoFit/>
          </a:bodyPr>
          <a:lstStyle/>
          <a:p>
            <a:pPr algn="l">
              <a:lnSpc>
                <a:spcPct val="100000"/>
              </a:lnSpc>
            </a:pPr>
            <a:r>
              <a:rPr sz="1000" b="1">
                <a:solidFill>
                  <a:srgbClr val="F16A21"/>
                </a:solidFill>
                <a:latin typeface="Aptos"/>
              </a:rPr>
              <a:t>02</a:t>
            </a:r>
          </a:p>
        </p:txBody>
      </p:sp>
      <p:sp>
        <p:nvSpPr>
          <p:cNvPr id="9" name="TextBox 8"/>
          <p:cNvSpPr txBox="1"/>
          <p:nvPr/>
        </p:nvSpPr>
        <p:spPr>
          <a:xfrm>
            <a:off x="1325880" y="3300984"/>
            <a:ext cx="1554480" cy="274320"/>
          </a:xfrm>
          <a:prstGeom prst="rect">
            <a:avLst/>
          </a:prstGeom>
          <a:noFill/>
        </p:spPr>
        <p:txBody>
          <a:bodyPr wrap="square" lIns="0" rIns="0" tIns="0" bIns="0" anchor="t">
            <a:spAutoFit/>
          </a:bodyPr>
          <a:lstStyle/>
          <a:p>
            <a:pPr algn="l">
              <a:lnSpc>
                <a:spcPct val="100000"/>
              </a:lnSpc>
            </a:pPr>
            <a:r>
              <a:rPr sz="1500" b="1">
                <a:solidFill>
                  <a:srgbClr val="FFFFFF"/>
                </a:solidFill>
                <a:latin typeface="Aptos"/>
              </a:rPr>
              <a:t>Discover</a:t>
            </a:r>
          </a:p>
        </p:txBody>
      </p:sp>
      <p:sp>
        <p:nvSpPr>
          <p:cNvPr id="10" name="TextBox 9"/>
          <p:cNvSpPr txBox="1"/>
          <p:nvPr/>
        </p:nvSpPr>
        <p:spPr>
          <a:xfrm>
            <a:off x="2926080" y="3328416"/>
            <a:ext cx="3337560" cy="256032"/>
          </a:xfrm>
          <a:prstGeom prst="rect">
            <a:avLst/>
          </a:prstGeom>
          <a:noFill/>
        </p:spPr>
        <p:txBody>
          <a:bodyPr wrap="square" lIns="0" rIns="0" tIns="0" bIns="0" anchor="t">
            <a:spAutoFit/>
          </a:bodyPr>
          <a:lstStyle/>
          <a:p>
            <a:pPr algn="l">
              <a:lnSpc>
                <a:spcPct val="100000"/>
              </a:lnSpc>
            </a:pPr>
            <a:r>
              <a:rPr sz="1100" b="0">
                <a:solidFill>
                  <a:srgbClr val="E9CDBF"/>
                </a:solidFill>
                <a:latin typeface="Aptos"/>
              </a:rPr>
              <a:t>Search, category, details</a:t>
            </a:r>
          </a:p>
        </p:txBody>
      </p:sp>
      <p:sp>
        <p:nvSpPr>
          <p:cNvPr id="11" name="TextBox 10"/>
          <p:cNvSpPr txBox="1"/>
          <p:nvPr/>
        </p:nvSpPr>
        <p:spPr>
          <a:xfrm>
            <a:off x="749808" y="3913632"/>
            <a:ext cx="457200" cy="237744"/>
          </a:xfrm>
          <a:prstGeom prst="rect">
            <a:avLst/>
          </a:prstGeom>
          <a:noFill/>
        </p:spPr>
        <p:txBody>
          <a:bodyPr wrap="square" lIns="0" rIns="0" tIns="0" bIns="0" anchor="t">
            <a:spAutoFit/>
          </a:bodyPr>
          <a:lstStyle/>
          <a:p>
            <a:pPr algn="l">
              <a:lnSpc>
                <a:spcPct val="100000"/>
              </a:lnSpc>
            </a:pPr>
            <a:r>
              <a:rPr sz="1000" b="1">
                <a:solidFill>
                  <a:srgbClr val="F16A21"/>
                </a:solidFill>
                <a:latin typeface="Aptos"/>
              </a:rPr>
              <a:t>03</a:t>
            </a:r>
          </a:p>
        </p:txBody>
      </p:sp>
      <p:sp>
        <p:nvSpPr>
          <p:cNvPr id="12" name="TextBox 11"/>
          <p:cNvSpPr txBox="1"/>
          <p:nvPr/>
        </p:nvSpPr>
        <p:spPr>
          <a:xfrm>
            <a:off x="1325880" y="3886200"/>
            <a:ext cx="1554480" cy="274320"/>
          </a:xfrm>
          <a:prstGeom prst="rect">
            <a:avLst/>
          </a:prstGeom>
          <a:noFill/>
        </p:spPr>
        <p:txBody>
          <a:bodyPr wrap="square" lIns="0" rIns="0" tIns="0" bIns="0" anchor="t">
            <a:spAutoFit/>
          </a:bodyPr>
          <a:lstStyle/>
          <a:p>
            <a:pPr algn="l">
              <a:lnSpc>
                <a:spcPct val="100000"/>
              </a:lnSpc>
            </a:pPr>
            <a:r>
              <a:rPr sz="1500" b="1">
                <a:solidFill>
                  <a:srgbClr val="FFFFFF"/>
                </a:solidFill>
                <a:latin typeface="Aptos"/>
              </a:rPr>
              <a:t>Order</a:t>
            </a:r>
          </a:p>
        </p:txBody>
      </p:sp>
      <p:sp>
        <p:nvSpPr>
          <p:cNvPr id="13" name="TextBox 12"/>
          <p:cNvSpPr txBox="1"/>
          <p:nvPr/>
        </p:nvSpPr>
        <p:spPr>
          <a:xfrm>
            <a:off x="2926080" y="3913632"/>
            <a:ext cx="3337560" cy="256032"/>
          </a:xfrm>
          <a:prstGeom prst="rect">
            <a:avLst/>
          </a:prstGeom>
          <a:noFill/>
        </p:spPr>
        <p:txBody>
          <a:bodyPr wrap="square" lIns="0" rIns="0" tIns="0" bIns="0" anchor="t">
            <a:spAutoFit/>
          </a:bodyPr>
          <a:lstStyle/>
          <a:p>
            <a:pPr algn="l">
              <a:lnSpc>
                <a:spcPct val="100000"/>
              </a:lnSpc>
            </a:pPr>
            <a:r>
              <a:rPr sz="1100" b="0">
                <a:solidFill>
                  <a:srgbClr val="E9CDBF"/>
                </a:solidFill>
                <a:latin typeface="Aptos"/>
              </a:rPr>
              <a:t>Cart, checkout, confirmation</a:t>
            </a:r>
          </a:p>
        </p:txBody>
      </p:sp>
      <p:sp>
        <p:nvSpPr>
          <p:cNvPr id="14" name="TextBox 13"/>
          <p:cNvSpPr txBox="1"/>
          <p:nvPr/>
        </p:nvSpPr>
        <p:spPr>
          <a:xfrm>
            <a:off x="749808" y="4498848"/>
            <a:ext cx="457200" cy="237744"/>
          </a:xfrm>
          <a:prstGeom prst="rect">
            <a:avLst/>
          </a:prstGeom>
          <a:noFill/>
        </p:spPr>
        <p:txBody>
          <a:bodyPr wrap="square" lIns="0" rIns="0" tIns="0" bIns="0" anchor="t">
            <a:spAutoFit/>
          </a:bodyPr>
          <a:lstStyle/>
          <a:p>
            <a:pPr algn="l">
              <a:lnSpc>
                <a:spcPct val="100000"/>
              </a:lnSpc>
            </a:pPr>
            <a:r>
              <a:rPr sz="1000" b="1">
                <a:solidFill>
                  <a:srgbClr val="F16A21"/>
                </a:solidFill>
                <a:latin typeface="Aptos"/>
              </a:rPr>
              <a:t>04</a:t>
            </a:r>
          </a:p>
        </p:txBody>
      </p:sp>
      <p:sp>
        <p:nvSpPr>
          <p:cNvPr id="15" name="TextBox 14"/>
          <p:cNvSpPr txBox="1"/>
          <p:nvPr/>
        </p:nvSpPr>
        <p:spPr>
          <a:xfrm>
            <a:off x="1325880" y="4471416"/>
            <a:ext cx="1554480" cy="274320"/>
          </a:xfrm>
          <a:prstGeom prst="rect">
            <a:avLst/>
          </a:prstGeom>
          <a:noFill/>
        </p:spPr>
        <p:txBody>
          <a:bodyPr wrap="square" lIns="0" rIns="0" tIns="0" bIns="0" anchor="t">
            <a:spAutoFit/>
          </a:bodyPr>
          <a:lstStyle/>
          <a:p>
            <a:pPr algn="l">
              <a:lnSpc>
                <a:spcPct val="100000"/>
              </a:lnSpc>
            </a:pPr>
            <a:r>
              <a:rPr sz="1500" b="1">
                <a:solidFill>
                  <a:srgbClr val="FFFFFF"/>
                </a:solidFill>
                <a:latin typeface="Aptos"/>
              </a:rPr>
              <a:t>Follow up</a:t>
            </a:r>
          </a:p>
        </p:txBody>
      </p:sp>
      <p:sp>
        <p:nvSpPr>
          <p:cNvPr id="16" name="TextBox 15"/>
          <p:cNvSpPr txBox="1"/>
          <p:nvPr/>
        </p:nvSpPr>
        <p:spPr>
          <a:xfrm>
            <a:off x="2926080" y="4498848"/>
            <a:ext cx="3337560" cy="256032"/>
          </a:xfrm>
          <a:prstGeom prst="rect">
            <a:avLst/>
          </a:prstGeom>
          <a:noFill/>
        </p:spPr>
        <p:txBody>
          <a:bodyPr wrap="square" lIns="0" rIns="0" tIns="0" bIns="0" anchor="t">
            <a:spAutoFit/>
          </a:bodyPr>
          <a:lstStyle/>
          <a:p>
            <a:pPr algn="l">
              <a:lnSpc>
                <a:spcPct val="100000"/>
              </a:lnSpc>
            </a:pPr>
            <a:r>
              <a:rPr sz="1100" b="0">
                <a:solidFill>
                  <a:srgbClr val="E9CDBF"/>
                </a:solidFill>
                <a:latin typeface="Aptos"/>
              </a:rPr>
              <a:t>Orders, loyalty, chat</a:t>
            </a:r>
          </a:p>
        </p:txBody>
      </p:sp>
      <p:sp>
        <p:nvSpPr>
          <p:cNvPr id="17" name="TextBox 16"/>
          <p:cNvSpPr txBox="1"/>
          <p:nvPr/>
        </p:nvSpPr>
        <p:spPr>
          <a:xfrm>
            <a:off x="749808" y="5084064"/>
            <a:ext cx="457200" cy="237744"/>
          </a:xfrm>
          <a:prstGeom prst="rect">
            <a:avLst/>
          </a:prstGeom>
          <a:noFill/>
        </p:spPr>
        <p:txBody>
          <a:bodyPr wrap="square" lIns="0" rIns="0" tIns="0" bIns="0" anchor="t">
            <a:spAutoFit/>
          </a:bodyPr>
          <a:lstStyle/>
          <a:p>
            <a:pPr algn="l">
              <a:lnSpc>
                <a:spcPct val="100000"/>
              </a:lnSpc>
            </a:pPr>
            <a:r>
              <a:rPr sz="1000" b="1">
                <a:solidFill>
                  <a:srgbClr val="F16A21"/>
                </a:solidFill>
                <a:latin typeface="Aptos"/>
              </a:rPr>
              <a:t>05</a:t>
            </a:r>
          </a:p>
        </p:txBody>
      </p:sp>
      <p:sp>
        <p:nvSpPr>
          <p:cNvPr id="18" name="TextBox 17"/>
          <p:cNvSpPr txBox="1"/>
          <p:nvPr/>
        </p:nvSpPr>
        <p:spPr>
          <a:xfrm>
            <a:off x="1325880" y="5056631"/>
            <a:ext cx="1554480" cy="274320"/>
          </a:xfrm>
          <a:prstGeom prst="rect">
            <a:avLst/>
          </a:prstGeom>
          <a:noFill/>
        </p:spPr>
        <p:txBody>
          <a:bodyPr wrap="square" lIns="0" rIns="0" tIns="0" bIns="0" anchor="t">
            <a:spAutoFit/>
          </a:bodyPr>
          <a:lstStyle/>
          <a:p>
            <a:pPr algn="l">
              <a:lnSpc>
                <a:spcPct val="100000"/>
              </a:lnSpc>
            </a:pPr>
            <a:r>
              <a:rPr sz="1500" b="1">
                <a:solidFill>
                  <a:srgbClr val="FFFFFF"/>
                </a:solidFill>
                <a:latin typeface="Aptos"/>
              </a:rPr>
              <a:t>Admin</a:t>
            </a:r>
          </a:p>
        </p:txBody>
      </p:sp>
      <p:sp>
        <p:nvSpPr>
          <p:cNvPr id="19" name="TextBox 18"/>
          <p:cNvSpPr txBox="1"/>
          <p:nvPr/>
        </p:nvSpPr>
        <p:spPr>
          <a:xfrm>
            <a:off x="2926080" y="5084064"/>
            <a:ext cx="3337560" cy="256032"/>
          </a:xfrm>
          <a:prstGeom prst="rect">
            <a:avLst/>
          </a:prstGeom>
          <a:noFill/>
        </p:spPr>
        <p:txBody>
          <a:bodyPr wrap="square" lIns="0" rIns="0" tIns="0" bIns="0" anchor="t">
            <a:spAutoFit/>
          </a:bodyPr>
          <a:lstStyle/>
          <a:p>
            <a:pPr algn="l">
              <a:lnSpc>
                <a:spcPct val="100000"/>
              </a:lnSpc>
            </a:pPr>
            <a:r>
              <a:rPr sz="1100" b="0">
                <a:solidFill>
                  <a:srgbClr val="E9CDBF"/>
                </a:solidFill>
                <a:latin typeface="Aptos"/>
              </a:rPr>
              <a:t>Products, status, replies</a:t>
            </a:r>
          </a:p>
        </p:txBody>
      </p:sp>
      <p:sp>
        <p:nvSpPr>
          <p:cNvPr id="20" name="Rounded Rectangle 19"/>
          <p:cNvSpPr/>
          <p:nvPr/>
        </p:nvSpPr>
        <p:spPr>
          <a:xfrm>
            <a:off x="7443216" y="566928"/>
            <a:ext cx="4050791" cy="5696712"/>
          </a:xfrm>
          <a:prstGeom prst="roundRect">
            <a:avLst>
              <a:gd name="adj" fmla="val 12000"/>
            </a:avLst>
          </a:prstGeom>
          <a:solidFill>
            <a:srgbClr val="FFF8F1"/>
          </a:solidFill>
          <a:ln w="12700">
            <a:solidFill>
              <a:srgbClr val="FF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49640" y="850392"/>
            <a:ext cx="2304288" cy="491947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0_menu.png"/>
          <p:cNvPicPr>
            <a:picLocks noChangeAspect="1"/>
          </p:cNvPicPr>
          <p:nvPr/>
        </p:nvPicPr>
        <p:blipFill>
          <a:blip r:embed="rId2"/>
          <a:stretch>
            <a:fillRect/>
          </a:stretch>
        </p:blipFill>
        <p:spPr>
          <a:xfrm>
            <a:off x="8631936" y="932688"/>
            <a:ext cx="2139696" cy="4754880"/>
          </a:xfrm>
          <a:prstGeom prst="rect">
            <a:avLst/>
          </a:prstGeom>
        </p:spPr>
      </p:pic>
      <p:sp>
        <p:nvSpPr>
          <p:cNvPr id="23" name="Rounded Rectangle 22"/>
          <p:cNvSpPr/>
          <p:nvPr/>
        </p:nvSpPr>
        <p:spPr>
          <a:xfrm>
            <a:off x="8083296" y="5833872"/>
            <a:ext cx="2926080" cy="329184"/>
          </a:xfrm>
          <a:prstGeom prst="roundRect">
            <a:avLst>
              <a:gd name="adj" fmla="val 12000"/>
            </a:avLst>
          </a:prstGeom>
          <a:solidFill>
            <a:srgbClr val="CC3D05"/>
          </a:solidFill>
          <a:ln>
            <a:solidFill>
              <a:srgbClr val="CC3D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5861304"/>
            <a:ext cx="2816352" cy="201168"/>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5-MINUTE LIVE WALKTHROUGH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SYSTEM FUNCTIONALITY</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Demo 1 — discover the right item quickly</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Home, search, category filters, product details, and quantity selection.</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985248" y="393192"/>
            <a:ext cx="1508760" cy="329184"/>
          </a:xfrm>
          <a:prstGeom prst="roundRect">
            <a:avLst>
              <a:gd name="adj" fmla="val 12000"/>
            </a:avLst>
          </a:prstGeom>
          <a:solidFill>
            <a:srgbClr val="FCE1D0"/>
          </a:solidFill>
          <a:ln>
            <a:solidFill>
              <a:srgbClr val="FCE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0112" y="420623"/>
            <a:ext cx="1399031" cy="201168"/>
          </a:xfrm>
          <a:prstGeom prst="rect">
            <a:avLst/>
          </a:prstGeom>
          <a:noFill/>
        </p:spPr>
        <p:txBody>
          <a:bodyPr wrap="square" lIns="0" rIns="0" tIns="0" bIns="0" anchor="t">
            <a:spAutoFit/>
          </a:bodyPr>
          <a:lstStyle/>
          <a:p>
            <a:pPr algn="ctr">
              <a:lnSpc>
                <a:spcPct val="100000"/>
              </a:lnSpc>
            </a:pPr>
            <a:r>
              <a:rPr sz="900" b="1">
                <a:solidFill>
                  <a:srgbClr val="CC3D05"/>
                </a:solidFill>
                <a:latin typeface="Aptos"/>
              </a:rPr>
              <a:t>LIVE DEMO</a:t>
            </a:r>
          </a:p>
        </p:txBody>
      </p:sp>
      <p:sp>
        <p:nvSpPr>
          <p:cNvPr id="8" name="Rounded Rectangle 7"/>
          <p:cNvSpPr/>
          <p:nvPr/>
        </p:nvSpPr>
        <p:spPr>
          <a:xfrm>
            <a:off x="667512" y="1965960"/>
            <a:ext cx="1954530" cy="4142231"/>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9_customer_home.png"/>
          <p:cNvPicPr>
            <a:picLocks noChangeAspect="1"/>
          </p:cNvPicPr>
          <p:nvPr/>
        </p:nvPicPr>
        <p:blipFill>
          <a:blip r:embed="rId2"/>
          <a:stretch>
            <a:fillRect/>
          </a:stretch>
        </p:blipFill>
        <p:spPr>
          <a:xfrm>
            <a:off x="749808" y="2048256"/>
            <a:ext cx="1789937" cy="3977639"/>
          </a:xfrm>
          <a:prstGeom prst="rect">
            <a:avLst/>
          </a:prstGeom>
        </p:spPr>
      </p:pic>
      <p:sp>
        <p:nvSpPr>
          <p:cNvPr id="10" name="TextBox 9"/>
          <p:cNvSpPr txBox="1"/>
          <p:nvPr/>
        </p:nvSpPr>
        <p:spPr>
          <a:xfrm>
            <a:off x="704087" y="6126480"/>
            <a:ext cx="188137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HOME</a:t>
            </a:r>
          </a:p>
        </p:txBody>
      </p:sp>
      <p:sp>
        <p:nvSpPr>
          <p:cNvPr id="11" name="Rounded Rectangle 10"/>
          <p:cNvSpPr/>
          <p:nvPr/>
        </p:nvSpPr>
        <p:spPr>
          <a:xfrm>
            <a:off x="2971800" y="1965960"/>
            <a:ext cx="1954530" cy="4142231"/>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0_menu.png"/>
          <p:cNvPicPr>
            <a:picLocks noChangeAspect="1"/>
          </p:cNvPicPr>
          <p:nvPr/>
        </p:nvPicPr>
        <p:blipFill>
          <a:blip r:embed="rId3"/>
          <a:stretch>
            <a:fillRect/>
          </a:stretch>
        </p:blipFill>
        <p:spPr>
          <a:xfrm>
            <a:off x="3054096" y="2048256"/>
            <a:ext cx="1789937" cy="3977639"/>
          </a:xfrm>
          <a:prstGeom prst="rect">
            <a:avLst/>
          </a:prstGeom>
        </p:spPr>
      </p:pic>
      <p:sp>
        <p:nvSpPr>
          <p:cNvPr id="13" name="TextBox 12"/>
          <p:cNvSpPr txBox="1"/>
          <p:nvPr/>
        </p:nvSpPr>
        <p:spPr>
          <a:xfrm>
            <a:off x="3008376" y="6126480"/>
            <a:ext cx="188137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MENU</a:t>
            </a:r>
          </a:p>
        </p:txBody>
      </p:sp>
      <p:sp>
        <p:nvSpPr>
          <p:cNvPr id="14" name="Rounded Rectangle 13"/>
          <p:cNvSpPr/>
          <p:nvPr/>
        </p:nvSpPr>
        <p:spPr>
          <a:xfrm>
            <a:off x="5276088" y="1965960"/>
            <a:ext cx="1954530" cy="4142231"/>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11_product_details.png"/>
          <p:cNvPicPr>
            <a:picLocks noChangeAspect="1"/>
          </p:cNvPicPr>
          <p:nvPr/>
        </p:nvPicPr>
        <p:blipFill>
          <a:blip r:embed="rId4"/>
          <a:stretch>
            <a:fillRect/>
          </a:stretch>
        </p:blipFill>
        <p:spPr>
          <a:xfrm>
            <a:off x="5358384" y="2048256"/>
            <a:ext cx="1789937" cy="3977639"/>
          </a:xfrm>
          <a:prstGeom prst="rect">
            <a:avLst/>
          </a:prstGeom>
        </p:spPr>
      </p:pic>
      <p:sp>
        <p:nvSpPr>
          <p:cNvPr id="16" name="TextBox 15"/>
          <p:cNvSpPr txBox="1"/>
          <p:nvPr/>
        </p:nvSpPr>
        <p:spPr>
          <a:xfrm>
            <a:off x="5312664" y="6126480"/>
            <a:ext cx="188137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DETAILS</a:t>
            </a:r>
          </a:p>
        </p:txBody>
      </p:sp>
      <p:sp>
        <p:nvSpPr>
          <p:cNvPr id="17" name="Rounded Rectangle 16"/>
          <p:cNvSpPr/>
          <p:nvPr/>
        </p:nvSpPr>
        <p:spPr>
          <a:xfrm>
            <a:off x="7818120" y="2057400"/>
            <a:ext cx="3648456" cy="404164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2377440"/>
            <a:ext cx="2971800" cy="292608"/>
          </a:xfrm>
          <a:prstGeom prst="rect">
            <a:avLst/>
          </a:prstGeom>
          <a:noFill/>
        </p:spPr>
        <p:txBody>
          <a:bodyPr wrap="square" lIns="0" rIns="0" tIns="0" bIns="0" anchor="t">
            <a:spAutoFit/>
          </a:bodyPr>
          <a:lstStyle/>
          <a:p>
            <a:pPr algn="l">
              <a:lnSpc>
                <a:spcPct val="100000"/>
              </a:lnSpc>
            </a:pPr>
            <a:r>
              <a:rPr sz="1700" b="1">
                <a:solidFill>
                  <a:srgbClr val="542819"/>
                </a:solidFill>
                <a:latin typeface="Aptos"/>
              </a:rPr>
              <a:t>Narrate while tapping</a:t>
            </a:r>
          </a:p>
        </p:txBody>
      </p:sp>
      <p:sp>
        <p:nvSpPr>
          <p:cNvPr id="19" name="Oval 18"/>
          <p:cNvSpPr/>
          <p:nvPr/>
        </p:nvSpPr>
        <p:spPr>
          <a:xfrm>
            <a:off x="8156448" y="2907792"/>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2926080"/>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21" name="TextBox 20"/>
          <p:cNvSpPr txBox="1"/>
          <p:nvPr/>
        </p:nvSpPr>
        <p:spPr>
          <a:xfrm>
            <a:off x="8577072" y="2898648"/>
            <a:ext cx="2441448"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Promotion carousel communicates current offers</a:t>
            </a:r>
          </a:p>
        </p:txBody>
      </p:sp>
      <p:sp>
        <p:nvSpPr>
          <p:cNvPr id="22" name="Oval 21"/>
          <p:cNvSpPr/>
          <p:nvPr/>
        </p:nvSpPr>
        <p:spPr>
          <a:xfrm>
            <a:off x="8156448" y="3611880"/>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65592" y="3630168"/>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24" name="TextBox 23"/>
          <p:cNvSpPr txBox="1"/>
          <p:nvPr/>
        </p:nvSpPr>
        <p:spPr>
          <a:xfrm>
            <a:off x="8577072" y="3602736"/>
            <a:ext cx="2441448"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Search and categories reuse ProductProvider state</a:t>
            </a:r>
          </a:p>
        </p:txBody>
      </p:sp>
      <p:sp>
        <p:nvSpPr>
          <p:cNvPr id="25" name="Oval 24"/>
          <p:cNvSpPr/>
          <p:nvPr/>
        </p:nvSpPr>
        <p:spPr>
          <a:xfrm>
            <a:off x="8156448" y="4315968"/>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65592" y="4334255"/>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27" name="TextBox 26"/>
          <p:cNvSpPr txBox="1"/>
          <p:nvPr/>
        </p:nvSpPr>
        <p:spPr>
          <a:xfrm>
            <a:off x="8577072" y="4306824"/>
            <a:ext cx="2441448"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Product details show price, rating, and description</a:t>
            </a:r>
          </a:p>
        </p:txBody>
      </p:sp>
      <p:sp>
        <p:nvSpPr>
          <p:cNvPr id="28" name="Oval 27"/>
          <p:cNvSpPr/>
          <p:nvPr/>
        </p:nvSpPr>
        <p:spPr>
          <a:xfrm>
            <a:off x="8156448" y="5020056"/>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65592" y="5038344"/>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30" name="TextBox 29"/>
          <p:cNvSpPr txBox="1"/>
          <p:nvPr/>
        </p:nvSpPr>
        <p:spPr>
          <a:xfrm>
            <a:off x="8577072" y="5010912"/>
            <a:ext cx="2441448"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Quantity updates the selected total before cart entry</a:t>
            </a:r>
          </a:p>
        </p:txBody>
      </p:sp>
      <p:sp>
        <p:nvSpPr>
          <p:cNvPr id="31" name="TextBox 30"/>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PROJECT DEMONSTRATION</a:t>
            </a:r>
          </a:p>
        </p:txBody>
      </p:sp>
      <p:sp>
        <p:nvSpPr>
          <p:cNvPr id="32" name="TextBox 31"/>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SYSTEM FUNCTIONALITY</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Demo 2 — convert the cart into a trusted order</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Validation, simulated payment, atomic persistence, and confirmation.</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985248" y="393192"/>
            <a:ext cx="1508760" cy="329184"/>
          </a:xfrm>
          <a:prstGeom prst="roundRect">
            <a:avLst>
              <a:gd name="adj" fmla="val 12000"/>
            </a:avLst>
          </a:prstGeom>
          <a:solidFill>
            <a:srgbClr val="FCE1D0"/>
          </a:solidFill>
          <a:ln>
            <a:solidFill>
              <a:srgbClr val="FCE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0112" y="420623"/>
            <a:ext cx="1399031" cy="201168"/>
          </a:xfrm>
          <a:prstGeom prst="rect">
            <a:avLst/>
          </a:prstGeom>
          <a:noFill/>
        </p:spPr>
        <p:txBody>
          <a:bodyPr wrap="square" lIns="0" rIns="0" tIns="0" bIns="0" anchor="t">
            <a:spAutoFit/>
          </a:bodyPr>
          <a:lstStyle/>
          <a:p>
            <a:pPr algn="ctr">
              <a:lnSpc>
                <a:spcPct val="100000"/>
              </a:lnSpc>
            </a:pPr>
            <a:r>
              <a:rPr sz="900" b="1">
                <a:solidFill>
                  <a:srgbClr val="CC3D05"/>
                </a:solidFill>
                <a:latin typeface="Aptos"/>
              </a:rPr>
              <a:t>LIVE DEMO</a:t>
            </a:r>
          </a:p>
        </p:txBody>
      </p:sp>
      <p:sp>
        <p:nvSpPr>
          <p:cNvPr id="8" name="Rounded Rectangle 7"/>
          <p:cNvSpPr/>
          <p:nvPr/>
        </p:nvSpPr>
        <p:spPr>
          <a:xfrm>
            <a:off x="667512" y="1947672"/>
            <a:ext cx="1975104" cy="418795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3_checkout.png"/>
          <p:cNvPicPr>
            <a:picLocks noChangeAspect="1"/>
          </p:cNvPicPr>
          <p:nvPr/>
        </p:nvPicPr>
        <p:blipFill>
          <a:blip r:embed="rId2"/>
          <a:stretch>
            <a:fillRect/>
          </a:stretch>
        </p:blipFill>
        <p:spPr>
          <a:xfrm>
            <a:off x="749808" y="2029968"/>
            <a:ext cx="1810512" cy="4023360"/>
          </a:xfrm>
          <a:prstGeom prst="rect">
            <a:avLst/>
          </a:prstGeom>
        </p:spPr>
      </p:pic>
      <p:sp>
        <p:nvSpPr>
          <p:cNvPr id="10" name="TextBox 9"/>
          <p:cNvSpPr txBox="1"/>
          <p:nvPr/>
        </p:nvSpPr>
        <p:spPr>
          <a:xfrm>
            <a:off x="704087" y="6153912"/>
            <a:ext cx="1901952"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DELIVERY + PAYMENT</a:t>
            </a:r>
          </a:p>
        </p:txBody>
      </p:sp>
      <p:sp>
        <p:nvSpPr>
          <p:cNvPr id="11" name="Rounded Rectangle 10"/>
          <p:cNvSpPr/>
          <p:nvPr/>
        </p:nvSpPr>
        <p:spPr>
          <a:xfrm>
            <a:off x="3008376" y="1947672"/>
            <a:ext cx="1975104" cy="418795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4_checkout_summary.png"/>
          <p:cNvPicPr>
            <a:picLocks noChangeAspect="1"/>
          </p:cNvPicPr>
          <p:nvPr/>
        </p:nvPicPr>
        <p:blipFill>
          <a:blip r:embed="rId3"/>
          <a:stretch>
            <a:fillRect/>
          </a:stretch>
        </p:blipFill>
        <p:spPr>
          <a:xfrm>
            <a:off x="3090672" y="2029968"/>
            <a:ext cx="1810512" cy="4023360"/>
          </a:xfrm>
          <a:prstGeom prst="rect">
            <a:avLst/>
          </a:prstGeom>
        </p:spPr>
      </p:pic>
      <p:sp>
        <p:nvSpPr>
          <p:cNvPr id="13" name="TextBox 12"/>
          <p:cNvSpPr txBox="1"/>
          <p:nvPr/>
        </p:nvSpPr>
        <p:spPr>
          <a:xfrm>
            <a:off x="3044952" y="6153912"/>
            <a:ext cx="1901952"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ORDER SUMMARY</a:t>
            </a:r>
          </a:p>
        </p:txBody>
      </p:sp>
      <p:sp>
        <p:nvSpPr>
          <p:cNvPr id="14" name="Rounded Rectangle 13"/>
          <p:cNvSpPr/>
          <p:nvPr/>
        </p:nvSpPr>
        <p:spPr>
          <a:xfrm>
            <a:off x="5349240" y="1947672"/>
            <a:ext cx="1975104" cy="418795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15_order_confirmation.png"/>
          <p:cNvPicPr>
            <a:picLocks noChangeAspect="1"/>
          </p:cNvPicPr>
          <p:nvPr/>
        </p:nvPicPr>
        <p:blipFill>
          <a:blip r:embed="rId4"/>
          <a:stretch>
            <a:fillRect/>
          </a:stretch>
        </p:blipFill>
        <p:spPr>
          <a:xfrm>
            <a:off x="5431536" y="2029968"/>
            <a:ext cx="1810512" cy="4023360"/>
          </a:xfrm>
          <a:prstGeom prst="rect">
            <a:avLst/>
          </a:prstGeom>
        </p:spPr>
      </p:pic>
      <p:sp>
        <p:nvSpPr>
          <p:cNvPr id="16" name="TextBox 15"/>
          <p:cNvSpPr txBox="1"/>
          <p:nvPr/>
        </p:nvSpPr>
        <p:spPr>
          <a:xfrm>
            <a:off x="5385816" y="6153912"/>
            <a:ext cx="1901952"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CONFIRMATION</a:t>
            </a:r>
          </a:p>
        </p:txBody>
      </p:sp>
      <p:sp>
        <p:nvSpPr>
          <p:cNvPr id="17" name="Rounded Rectangle 16"/>
          <p:cNvSpPr/>
          <p:nvPr/>
        </p:nvSpPr>
        <p:spPr>
          <a:xfrm>
            <a:off x="7936992" y="2029968"/>
            <a:ext cx="3520440" cy="4078224"/>
          </a:xfrm>
          <a:prstGeom prst="roundRect">
            <a:avLst>
              <a:gd name="adj" fmla="val 12000"/>
            </a:avLst>
          </a:prstGeom>
          <a:solidFill>
            <a:srgbClr val="542819"/>
          </a:solidFill>
          <a:ln w="12700">
            <a:solidFill>
              <a:srgbClr val="5428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395728"/>
            <a:ext cx="2743200" cy="320040"/>
          </a:xfrm>
          <a:prstGeom prst="rect">
            <a:avLst/>
          </a:prstGeom>
          <a:noFill/>
        </p:spPr>
        <p:txBody>
          <a:bodyPr wrap="square" lIns="0" rIns="0" tIns="0" bIns="0" anchor="t">
            <a:spAutoFit/>
          </a:bodyPr>
          <a:lstStyle/>
          <a:p>
            <a:pPr algn="l">
              <a:lnSpc>
                <a:spcPct val="100000"/>
              </a:lnSpc>
            </a:pPr>
            <a:r>
              <a:rPr sz="1800" b="1">
                <a:solidFill>
                  <a:srgbClr val="FFFFFF"/>
                </a:solidFill>
                <a:latin typeface="Aptos"/>
              </a:rPr>
              <a:t>Trust controls</a:t>
            </a:r>
          </a:p>
        </p:txBody>
      </p:sp>
      <p:sp>
        <p:nvSpPr>
          <p:cNvPr id="19" name="TextBox 18"/>
          <p:cNvSpPr txBox="1"/>
          <p:nvPr/>
        </p:nvSpPr>
        <p:spPr>
          <a:xfrm>
            <a:off x="8257031" y="2962656"/>
            <a:ext cx="2761488" cy="2606040"/>
          </a:xfrm>
          <a:prstGeom prst="rect">
            <a:avLst/>
          </a:prstGeom>
          <a:noFill/>
        </p:spPr>
        <p:txBody>
          <a:bodyPr wrap="square" lIns="0" rIns="0" tIns="0" bIns="0">
            <a:spAutoFit/>
          </a:bodyPr>
          <a:lstStyle/>
          <a:p>
            <a:pPr>
              <a:lnSpc>
                <a:spcPct val="105000"/>
              </a:lnSpc>
              <a:spcAft>
                <a:spcPts val="1100"/>
              </a:spcAft>
            </a:pPr>
            <a:r>
              <a:rPr sz="800">
                <a:solidFill>
                  <a:srgbClr val="F16A21"/>
                </a:solidFill>
                <a:latin typeface="Aptos"/>
              </a:rPr>
              <a:t>●  </a:t>
            </a:r>
            <a:r>
              <a:rPr sz="1200">
                <a:solidFill>
                  <a:srgbClr val="FFFFFF"/>
                </a:solidFill>
                <a:latin typeface="Aptos"/>
              </a:rPr>
              <a:t>Required delivery fields</a:t>
            </a:r>
          </a:p>
          <a:p>
            <a:pPr>
              <a:lnSpc>
                <a:spcPct val="105000"/>
              </a:lnSpc>
              <a:spcAft>
                <a:spcPts val="1100"/>
              </a:spcAft>
            </a:pPr>
            <a:r>
              <a:rPr sz="800">
                <a:solidFill>
                  <a:srgbClr val="F16A21"/>
                </a:solidFill>
                <a:latin typeface="Aptos"/>
              </a:rPr>
              <a:t>●  </a:t>
            </a:r>
            <a:r>
              <a:rPr sz="1200">
                <a:solidFill>
                  <a:srgbClr val="FFFFFF"/>
                </a:solidFill>
                <a:latin typeface="Aptos"/>
              </a:rPr>
              <a:t>Three clearly simulated payment choices</a:t>
            </a:r>
          </a:p>
          <a:p>
            <a:pPr>
              <a:lnSpc>
                <a:spcPct val="105000"/>
              </a:lnSpc>
              <a:spcAft>
                <a:spcPts val="1100"/>
              </a:spcAft>
            </a:pPr>
            <a:r>
              <a:rPr sz="800">
                <a:solidFill>
                  <a:srgbClr val="F16A21"/>
                </a:solidFill>
                <a:latin typeface="Aptos"/>
              </a:rPr>
              <a:t>●  </a:t>
            </a:r>
            <a:r>
              <a:rPr sz="1200">
                <a:solidFill>
                  <a:srgbClr val="FFFFFF"/>
                </a:solidFill>
                <a:latin typeface="Aptos"/>
              </a:rPr>
              <a:t>Luhn, expiry, and CVV validation for card demo</a:t>
            </a:r>
          </a:p>
          <a:p>
            <a:pPr>
              <a:lnSpc>
                <a:spcPct val="105000"/>
              </a:lnSpc>
              <a:spcAft>
                <a:spcPts val="1100"/>
              </a:spcAft>
            </a:pPr>
            <a:r>
              <a:rPr sz="800">
                <a:solidFill>
                  <a:srgbClr val="F16A21"/>
                </a:solidFill>
                <a:latin typeface="Aptos"/>
              </a:rPr>
              <a:t>●  </a:t>
            </a:r>
            <a:r>
              <a:rPr sz="1200">
                <a:solidFill>
                  <a:srgbClr val="FFFFFF"/>
                </a:solidFill>
                <a:latin typeface="Aptos"/>
              </a:rPr>
              <a:t>Card values never written to SQLite</a:t>
            </a:r>
          </a:p>
          <a:p>
            <a:pPr>
              <a:lnSpc>
                <a:spcPct val="105000"/>
              </a:lnSpc>
              <a:spcAft>
                <a:spcPts val="1100"/>
              </a:spcAft>
            </a:pPr>
            <a:r>
              <a:rPr sz="800">
                <a:solidFill>
                  <a:srgbClr val="F16A21"/>
                </a:solidFill>
                <a:latin typeface="Aptos"/>
              </a:rPr>
              <a:t>●  </a:t>
            </a:r>
            <a:r>
              <a:rPr sz="1200">
                <a:solidFill>
                  <a:srgbClr val="FFFFFF"/>
                </a:solidFill>
                <a:latin typeface="Aptos"/>
              </a:rPr>
              <a:t>Order insert + cart clear in one transaction</a:t>
            </a:r>
          </a:p>
        </p:txBody>
      </p:sp>
      <p:sp>
        <p:nvSpPr>
          <p:cNvPr id="20" name="TextBox 19"/>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PROJECT DEMONSTRATION</a:t>
            </a:r>
          </a:p>
        </p:txBody>
      </p:sp>
      <p:sp>
        <p:nvSpPr>
          <p:cNvPr id="21" name="TextBox 20"/>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SYSTEM FUNCTIONALITY</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Demo 3 — close the loop for customers and staff</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Order follow-up, loyalty, administrator maintenance, and communication.</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985248" y="393192"/>
            <a:ext cx="1508760" cy="329184"/>
          </a:xfrm>
          <a:prstGeom prst="roundRect">
            <a:avLst>
              <a:gd name="adj" fmla="val 12000"/>
            </a:avLst>
          </a:prstGeom>
          <a:solidFill>
            <a:srgbClr val="FCE1D0"/>
          </a:solidFill>
          <a:ln>
            <a:solidFill>
              <a:srgbClr val="FCE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0112" y="420623"/>
            <a:ext cx="1399031" cy="201168"/>
          </a:xfrm>
          <a:prstGeom prst="rect">
            <a:avLst/>
          </a:prstGeom>
          <a:noFill/>
        </p:spPr>
        <p:txBody>
          <a:bodyPr wrap="square" lIns="0" rIns="0" tIns="0" bIns="0" anchor="t">
            <a:spAutoFit/>
          </a:bodyPr>
          <a:lstStyle/>
          <a:p>
            <a:pPr algn="ctr">
              <a:lnSpc>
                <a:spcPct val="100000"/>
              </a:lnSpc>
            </a:pPr>
            <a:r>
              <a:rPr sz="900" b="1">
                <a:solidFill>
                  <a:srgbClr val="CC3D05"/>
                </a:solidFill>
                <a:latin typeface="Aptos"/>
              </a:rPr>
              <a:t>LIVE DEMO</a:t>
            </a:r>
          </a:p>
        </p:txBody>
      </p:sp>
      <p:sp>
        <p:nvSpPr>
          <p:cNvPr id="8" name="Rounded Rectangle 7"/>
          <p:cNvSpPr/>
          <p:nvPr/>
        </p:nvSpPr>
        <p:spPr>
          <a:xfrm>
            <a:off x="740664" y="1947672"/>
            <a:ext cx="1950415" cy="4133087"/>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6_profile_loyalty.png"/>
          <p:cNvPicPr>
            <a:picLocks noChangeAspect="1"/>
          </p:cNvPicPr>
          <p:nvPr/>
        </p:nvPicPr>
        <p:blipFill>
          <a:blip r:embed="rId2"/>
          <a:stretch>
            <a:fillRect/>
          </a:stretch>
        </p:blipFill>
        <p:spPr>
          <a:xfrm>
            <a:off x="822960" y="2029968"/>
            <a:ext cx="1785823" cy="3968496"/>
          </a:xfrm>
          <a:prstGeom prst="rect">
            <a:avLst/>
          </a:prstGeom>
        </p:spPr>
      </p:pic>
      <p:sp>
        <p:nvSpPr>
          <p:cNvPr id="10" name="TextBox 9"/>
          <p:cNvSpPr txBox="1"/>
          <p:nvPr/>
        </p:nvSpPr>
        <p:spPr>
          <a:xfrm>
            <a:off x="777240" y="6099048"/>
            <a:ext cx="1877263"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CUSTOMER PROFILE</a:t>
            </a:r>
          </a:p>
        </p:txBody>
      </p:sp>
      <p:sp>
        <p:nvSpPr>
          <p:cNvPr id="11" name="Rounded Rectangle 10"/>
          <p:cNvSpPr/>
          <p:nvPr/>
        </p:nvSpPr>
        <p:spPr>
          <a:xfrm>
            <a:off x="3072384" y="1947672"/>
            <a:ext cx="1950415" cy="4133087"/>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8_admin_dashboard.png"/>
          <p:cNvPicPr>
            <a:picLocks noChangeAspect="1"/>
          </p:cNvPicPr>
          <p:nvPr/>
        </p:nvPicPr>
        <p:blipFill>
          <a:blip r:embed="rId3"/>
          <a:stretch>
            <a:fillRect/>
          </a:stretch>
        </p:blipFill>
        <p:spPr>
          <a:xfrm>
            <a:off x="3154680" y="2029968"/>
            <a:ext cx="1785823" cy="3968496"/>
          </a:xfrm>
          <a:prstGeom prst="rect">
            <a:avLst/>
          </a:prstGeom>
        </p:spPr>
      </p:pic>
      <p:sp>
        <p:nvSpPr>
          <p:cNvPr id="13" name="TextBox 12"/>
          <p:cNvSpPr txBox="1"/>
          <p:nvPr/>
        </p:nvSpPr>
        <p:spPr>
          <a:xfrm>
            <a:off x="3108960" y="6099048"/>
            <a:ext cx="1877263"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ADMIN PRODUCTS</a:t>
            </a:r>
          </a:p>
        </p:txBody>
      </p:sp>
      <p:sp>
        <p:nvSpPr>
          <p:cNvPr id="14" name="Rounded Rectangle 13"/>
          <p:cNvSpPr/>
          <p:nvPr/>
        </p:nvSpPr>
        <p:spPr>
          <a:xfrm>
            <a:off x="5632704" y="2057400"/>
            <a:ext cx="5815584" cy="1124712"/>
          </a:xfrm>
          <a:prstGeom prst="roundRect">
            <a:avLst>
              <a:gd name="adj" fmla="val 12000"/>
            </a:avLst>
          </a:prstGeom>
          <a:solidFill>
            <a:srgbClr val="E4F1E9"/>
          </a:solidFill>
          <a:ln w="12700">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25312" y="2313432"/>
            <a:ext cx="1508760" cy="256032"/>
          </a:xfrm>
          <a:prstGeom prst="rect">
            <a:avLst/>
          </a:prstGeom>
          <a:noFill/>
        </p:spPr>
        <p:txBody>
          <a:bodyPr wrap="square" lIns="0" rIns="0" tIns="0" bIns="0" anchor="t">
            <a:spAutoFit/>
          </a:bodyPr>
          <a:lstStyle/>
          <a:p>
            <a:pPr algn="l">
              <a:lnSpc>
                <a:spcPct val="100000"/>
              </a:lnSpc>
            </a:pPr>
            <a:r>
              <a:rPr sz="1400" b="1">
                <a:solidFill>
                  <a:srgbClr val="218653"/>
                </a:solidFill>
                <a:latin typeface="Aptos"/>
              </a:rPr>
              <a:t>Customer value</a:t>
            </a:r>
          </a:p>
        </p:txBody>
      </p:sp>
      <p:sp>
        <p:nvSpPr>
          <p:cNvPr id="16" name="TextBox 15"/>
          <p:cNvSpPr txBox="1"/>
          <p:nvPr/>
        </p:nvSpPr>
        <p:spPr>
          <a:xfrm>
            <a:off x="7452360" y="2267712"/>
            <a:ext cx="3657600" cy="420624"/>
          </a:xfrm>
          <a:prstGeom prst="rect">
            <a:avLst/>
          </a:prstGeom>
          <a:noFill/>
        </p:spPr>
        <p:txBody>
          <a:bodyPr wrap="square" lIns="0" rIns="0" tIns="0" bIns="0" anchor="t">
            <a:spAutoFit/>
          </a:bodyPr>
          <a:lstStyle/>
          <a:p>
            <a:pPr algn="l">
              <a:lnSpc>
                <a:spcPct val="100000"/>
              </a:lnSpc>
            </a:pPr>
            <a:r>
              <a:rPr sz="1150" b="1">
                <a:solidFill>
                  <a:srgbClr val="201714"/>
                </a:solidFill>
                <a:latin typeface="Aptos"/>
              </a:rPr>
              <a:t>Saved order history • 1 point per Rs. 100 • promotions • notifications • café chat</a:t>
            </a:r>
          </a:p>
        </p:txBody>
      </p:sp>
      <p:sp>
        <p:nvSpPr>
          <p:cNvPr id="17" name="Rounded Rectangle 16"/>
          <p:cNvSpPr/>
          <p:nvPr/>
        </p:nvSpPr>
        <p:spPr>
          <a:xfrm>
            <a:off x="5632704" y="3456432"/>
            <a:ext cx="5815584" cy="1124712"/>
          </a:xfrm>
          <a:prstGeom prst="roundRect">
            <a:avLst>
              <a:gd name="adj" fmla="val 12000"/>
            </a:avLst>
          </a:prstGeom>
          <a:solidFill>
            <a:srgbClr val="E8F0F7"/>
          </a:solidFill>
          <a:ln w="12700">
            <a:solidFill>
              <a:srgbClr val="E8F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25312" y="3712463"/>
            <a:ext cx="1508760" cy="256032"/>
          </a:xfrm>
          <a:prstGeom prst="rect">
            <a:avLst/>
          </a:prstGeom>
          <a:noFill/>
        </p:spPr>
        <p:txBody>
          <a:bodyPr wrap="square" lIns="0" rIns="0" tIns="0" bIns="0" anchor="t">
            <a:spAutoFit/>
          </a:bodyPr>
          <a:lstStyle/>
          <a:p>
            <a:pPr algn="l">
              <a:lnSpc>
                <a:spcPct val="100000"/>
              </a:lnSpc>
            </a:pPr>
            <a:r>
              <a:rPr sz="1400" b="1">
                <a:solidFill>
                  <a:srgbClr val="2E628D"/>
                </a:solidFill>
                <a:latin typeface="Aptos"/>
              </a:rPr>
              <a:t>Staff control</a:t>
            </a:r>
          </a:p>
        </p:txBody>
      </p:sp>
      <p:sp>
        <p:nvSpPr>
          <p:cNvPr id="19" name="TextBox 18"/>
          <p:cNvSpPr txBox="1"/>
          <p:nvPr/>
        </p:nvSpPr>
        <p:spPr>
          <a:xfrm>
            <a:off x="7452360" y="3666744"/>
            <a:ext cx="3657600" cy="420624"/>
          </a:xfrm>
          <a:prstGeom prst="rect">
            <a:avLst/>
          </a:prstGeom>
          <a:noFill/>
        </p:spPr>
        <p:txBody>
          <a:bodyPr wrap="square" lIns="0" rIns="0" tIns="0" bIns="0" anchor="t">
            <a:spAutoFit/>
          </a:bodyPr>
          <a:lstStyle/>
          <a:p>
            <a:pPr algn="l">
              <a:lnSpc>
                <a:spcPct val="100000"/>
              </a:lnSpc>
            </a:pPr>
            <a:r>
              <a:rPr sz="1150" b="1">
                <a:solidFill>
                  <a:srgbClr val="201714"/>
                </a:solidFill>
                <a:latin typeface="Aptos"/>
              </a:rPr>
              <a:t>Add/edit/delete products • update order status • reply to customer conversations</a:t>
            </a:r>
          </a:p>
        </p:txBody>
      </p:sp>
      <p:sp>
        <p:nvSpPr>
          <p:cNvPr id="20" name="Rounded Rectangle 19"/>
          <p:cNvSpPr/>
          <p:nvPr/>
        </p:nvSpPr>
        <p:spPr>
          <a:xfrm>
            <a:off x="5632704" y="4855464"/>
            <a:ext cx="5815584" cy="1124712"/>
          </a:xfrm>
          <a:prstGeom prst="roundRect">
            <a:avLst>
              <a:gd name="adj" fmla="val 12000"/>
            </a:avLst>
          </a:prstGeom>
          <a:solidFill>
            <a:srgbClr val="FCE1D0"/>
          </a:solidFill>
          <a:ln w="12700">
            <a:solidFill>
              <a:srgbClr val="FCE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25312" y="5111496"/>
            <a:ext cx="1508760" cy="256032"/>
          </a:xfrm>
          <a:prstGeom prst="rect">
            <a:avLst/>
          </a:prstGeom>
          <a:noFill/>
        </p:spPr>
        <p:txBody>
          <a:bodyPr wrap="square" lIns="0" rIns="0" tIns="0" bIns="0" anchor="t">
            <a:spAutoFit/>
          </a:bodyPr>
          <a:lstStyle/>
          <a:p>
            <a:pPr algn="l">
              <a:lnSpc>
                <a:spcPct val="100000"/>
              </a:lnSpc>
            </a:pPr>
            <a:r>
              <a:rPr sz="1400" b="1">
                <a:solidFill>
                  <a:srgbClr val="CC3D05"/>
                </a:solidFill>
                <a:latin typeface="Aptos"/>
              </a:rPr>
              <a:t>Role boundary</a:t>
            </a:r>
          </a:p>
        </p:txBody>
      </p:sp>
      <p:sp>
        <p:nvSpPr>
          <p:cNvPr id="22" name="TextBox 21"/>
          <p:cNvSpPr txBox="1"/>
          <p:nvPr/>
        </p:nvSpPr>
        <p:spPr>
          <a:xfrm>
            <a:off x="7452360" y="5065776"/>
            <a:ext cx="3657600" cy="420624"/>
          </a:xfrm>
          <a:prstGeom prst="rect">
            <a:avLst/>
          </a:prstGeom>
          <a:noFill/>
        </p:spPr>
        <p:txBody>
          <a:bodyPr wrap="square" lIns="0" rIns="0" tIns="0" bIns="0" anchor="t">
            <a:spAutoFit/>
          </a:bodyPr>
          <a:lstStyle/>
          <a:p>
            <a:pPr algn="l">
              <a:lnSpc>
                <a:spcPct val="100000"/>
              </a:lnSpc>
            </a:pPr>
            <a:r>
              <a:rPr sz="1150" b="1">
                <a:solidFill>
                  <a:srgbClr val="201714"/>
                </a:solidFill>
                <a:latin typeface="Aptos"/>
              </a:rPr>
              <a:t>AuthProvider restores one local session and routes customer or administrator UI</a:t>
            </a:r>
          </a:p>
        </p:txBody>
      </p:sp>
      <p:sp>
        <p:nvSpPr>
          <p:cNvPr id="23" name="TextBox 22"/>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PROJECT DEMONSTRATION</a:t>
            </a:r>
          </a:p>
        </p:txBody>
      </p:sp>
      <p:sp>
        <p:nvSpPr>
          <p:cNvPr id="24" name="TextBox 23"/>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INDIVIDUAL CONTRIBUTION</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My contribution covered the complete delivery path</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Repository evidence showed an incremental implementation across the full system.</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87000" y="402336"/>
            <a:ext cx="1207008" cy="329184"/>
          </a:xfrm>
          <a:prstGeom prst="roundRect">
            <a:avLst>
              <a:gd name="adj" fmla="val 12000"/>
            </a:avLst>
          </a:prstGeom>
          <a:solidFill>
            <a:srgbClr val="E4F1E9"/>
          </a:solidFill>
          <a:ln>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41864" y="429768"/>
            <a:ext cx="1097280" cy="201168"/>
          </a:xfrm>
          <a:prstGeom prst="rect">
            <a:avLst/>
          </a:prstGeom>
          <a:noFill/>
        </p:spPr>
        <p:txBody>
          <a:bodyPr wrap="square" lIns="0" rIns="0" tIns="0" bIns="0" anchor="t">
            <a:spAutoFit/>
          </a:bodyPr>
          <a:lstStyle/>
          <a:p>
            <a:pPr algn="ctr">
              <a:lnSpc>
                <a:spcPct val="100000"/>
              </a:lnSpc>
            </a:pPr>
            <a:r>
              <a:rPr sz="900" b="1">
                <a:solidFill>
                  <a:srgbClr val="218653"/>
                </a:solidFill>
                <a:latin typeface="Aptos"/>
              </a:rPr>
              <a:t>10:30–12:00</a:t>
            </a:r>
          </a:p>
        </p:txBody>
      </p:sp>
      <p:sp>
        <p:nvSpPr>
          <p:cNvPr id="8" name="Rounded Rectangle 7"/>
          <p:cNvSpPr/>
          <p:nvPr/>
        </p:nvSpPr>
        <p:spPr>
          <a:xfrm>
            <a:off x="8924544" y="393192"/>
            <a:ext cx="2578608" cy="329184"/>
          </a:xfrm>
          <a:prstGeom prst="roundRect">
            <a:avLst>
              <a:gd name="adj" fmla="val 12000"/>
            </a:avLst>
          </a:prstGeom>
          <a:solidFill>
            <a:srgbClr val="542819"/>
          </a:solidFill>
          <a:ln>
            <a:solidFill>
              <a:srgbClr val="5428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79408" y="420623"/>
            <a:ext cx="2468879" cy="201168"/>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INDIVIDUAL CONTRIBUTION • 5 MIN</a:t>
            </a:r>
          </a:p>
        </p:txBody>
      </p:sp>
      <p:sp>
        <p:nvSpPr>
          <p:cNvPr id="10" name="Rounded Rectangle 9"/>
          <p:cNvSpPr/>
          <p:nvPr/>
        </p:nvSpPr>
        <p:spPr>
          <a:xfrm>
            <a:off x="685800" y="2057400"/>
            <a:ext cx="2212848" cy="3611880"/>
          </a:xfrm>
          <a:prstGeom prst="roundRect">
            <a:avLst>
              <a:gd name="adj" fmla="val 12000"/>
            </a:avLst>
          </a:prstGeom>
          <a:solidFill>
            <a:srgbClr val="542819"/>
          </a:solidFill>
          <a:ln w="12700">
            <a:solidFill>
              <a:srgbClr val="5428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487168"/>
            <a:ext cx="1664208" cy="713232"/>
          </a:xfrm>
          <a:prstGeom prst="rect">
            <a:avLst/>
          </a:prstGeom>
          <a:noFill/>
        </p:spPr>
        <p:txBody>
          <a:bodyPr wrap="square" lIns="0" rIns="0" tIns="0" bIns="0" anchor="t">
            <a:spAutoFit/>
          </a:bodyPr>
          <a:lstStyle/>
          <a:p>
            <a:pPr algn="ctr">
              <a:lnSpc>
                <a:spcPct val="100000"/>
              </a:lnSpc>
            </a:pPr>
            <a:r>
              <a:rPr sz="4000" b="1">
                <a:solidFill>
                  <a:srgbClr val="FFFFFF"/>
                </a:solidFill>
                <a:latin typeface="Aptos Display"/>
              </a:rPr>
              <a:t>23</a:t>
            </a:r>
          </a:p>
        </p:txBody>
      </p:sp>
      <p:sp>
        <p:nvSpPr>
          <p:cNvPr id="12" name="TextBox 11"/>
          <p:cNvSpPr txBox="1"/>
          <p:nvPr/>
        </p:nvSpPr>
        <p:spPr>
          <a:xfrm>
            <a:off x="950976" y="3227832"/>
            <a:ext cx="1664208" cy="274320"/>
          </a:xfrm>
          <a:prstGeom prst="rect">
            <a:avLst/>
          </a:prstGeom>
          <a:noFill/>
        </p:spPr>
        <p:txBody>
          <a:bodyPr wrap="square" lIns="0" rIns="0" tIns="0" bIns="0" anchor="t">
            <a:spAutoFit/>
          </a:bodyPr>
          <a:lstStyle/>
          <a:p>
            <a:pPr algn="ctr">
              <a:lnSpc>
                <a:spcPct val="100000"/>
              </a:lnSpc>
            </a:pPr>
            <a:r>
              <a:rPr sz="1200" b="1">
                <a:solidFill>
                  <a:srgbClr val="F7D7C6"/>
                </a:solidFill>
                <a:latin typeface="Aptos"/>
              </a:rPr>
              <a:t>incremental commits</a:t>
            </a:r>
          </a:p>
        </p:txBody>
      </p:sp>
      <p:sp>
        <p:nvSpPr>
          <p:cNvPr id="13" name="TextBox 12"/>
          <p:cNvSpPr txBox="1"/>
          <p:nvPr/>
        </p:nvSpPr>
        <p:spPr>
          <a:xfrm>
            <a:off x="950976" y="3913632"/>
            <a:ext cx="1664208" cy="713232"/>
          </a:xfrm>
          <a:prstGeom prst="rect">
            <a:avLst/>
          </a:prstGeom>
          <a:noFill/>
        </p:spPr>
        <p:txBody>
          <a:bodyPr wrap="square" lIns="0" rIns="0" tIns="0" bIns="0" anchor="t">
            <a:spAutoFit/>
          </a:bodyPr>
          <a:lstStyle/>
          <a:p>
            <a:pPr algn="ctr">
              <a:lnSpc>
                <a:spcPct val="100000"/>
              </a:lnSpc>
            </a:pPr>
            <a:r>
              <a:rPr sz="4000" b="1">
                <a:solidFill>
                  <a:srgbClr val="FFFFFF"/>
                </a:solidFill>
                <a:latin typeface="Aptos Display"/>
              </a:rPr>
              <a:t>42</a:t>
            </a:r>
          </a:p>
        </p:txBody>
      </p:sp>
      <p:sp>
        <p:nvSpPr>
          <p:cNvPr id="14" name="TextBox 13"/>
          <p:cNvSpPr txBox="1"/>
          <p:nvPr/>
        </p:nvSpPr>
        <p:spPr>
          <a:xfrm>
            <a:off x="950976" y="4654296"/>
            <a:ext cx="1664208" cy="274320"/>
          </a:xfrm>
          <a:prstGeom prst="rect">
            <a:avLst/>
          </a:prstGeom>
          <a:noFill/>
        </p:spPr>
        <p:txBody>
          <a:bodyPr wrap="square" lIns="0" rIns="0" tIns="0" bIns="0" anchor="t">
            <a:spAutoFit/>
          </a:bodyPr>
          <a:lstStyle/>
          <a:p>
            <a:pPr algn="ctr">
              <a:lnSpc>
                <a:spcPct val="100000"/>
              </a:lnSpc>
            </a:pPr>
            <a:r>
              <a:rPr sz="1200" b="1">
                <a:solidFill>
                  <a:srgbClr val="F7D7C6"/>
                </a:solidFill>
                <a:latin typeface="Aptos"/>
              </a:rPr>
              <a:t>passing tests</a:t>
            </a:r>
          </a:p>
        </p:txBody>
      </p:sp>
      <p:sp>
        <p:nvSpPr>
          <p:cNvPr id="15" name="Rounded Rectangle 14"/>
          <p:cNvSpPr/>
          <p:nvPr/>
        </p:nvSpPr>
        <p:spPr>
          <a:xfrm>
            <a:off x="3246120" y="2103120"/>
            <a:ext cx="3794760" cy="960120"/>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10712" y="2313432"/>
            <a:ext cx="530352" cy="530352"/>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0712" y="2368296"/>
            <a:ext cx="530352" cy="228600"/>
          </a:xfrm>
          <a:prstGeom prst="rect">
            <a:avLst/>
          </a:prstGeom>
          <a:noFill/>
        </p:spPr>
        <p:txBody>
          <a:bodyPr wrap="square" lIns="0" rIns="0" tIns="0" bIns="0" anchor="t">
            <a:spAutoFit/>
          </a:bodyPr>
          <a:lstStyle/>
          <a:p>
            <a:pPr algn="ctr">
              <a:lnSpc>
                <a:spcPct val="100000"/>
              </a:lnSpc>
            </a:pPr>
            <a:r>
              <a:rPr sz="1300" b="1">
                <a:solidFill>
                  <a:srgbClr val="FFFFFF"/>
                </a:solidFill>
                <a:latin typeface="Aptos"/>
              </a:rPr>
              <a:t>1</a:t>
            </a:r>
          </a:p>
        </p:txBody>
      </p:sp>
      <p:sp>
        <p:nvSpPr>
          <p:cNvPr id="18" name="TextBox 17"/>
          <p:cNvSpPr txBox="1"/>
          <p:nvPr/>
        </p:nvSpPr>
        <p:spPr>
          <a:xfrm>
            <a:off x="4087368" y="2267712"/>
            <a:ext cx="2807208" cy="256032"/>
          </a:xfrm>
          <a:prstGeom prst="rect">
            <a:avLst/>
          </a:prstGeom>
          <a:noFill/>
        </p:spPr>
        <p:txBody>
          <a:bodyPr wrap="square" lIns="0" rIns="0" tIns="0" bIns="0" anchor="t">
            <a:spAutoFit/>
          </a:bodyPr>
          <a:lstStyle/>
          <a:p>
            <a:pPr algn="l">
              <a:lnSpc>
                <a:spcPct val="100000"/>
              </a:lnSpc>
            </a:pPr>
            <a:r>
              <a:rPr sz="1400" b="1">
                <a:solidFill>
                  <a:srgbClr val="542819"/>
                </a:solidFill>
                <a:latin typeface="Aptos"/>
              </a:rPr>
              <a:t>Foundation</a:t>
            </a:r>
          </a:p>
        </p:txBody>
      </p:sp>
      <p:sp>
        <p:nvSpPr>
          <p:cNvPr id="19" name="TextBox 18"/>
          <p:cNvSpPr txBox="1"/>
          <p:nvPr/>
        </p:nvSpPr>
        <p:spPr>
          <a:xfrm>
            <a:off x="4087368" y="2596896"/>
            <a:ext cx="2807208" cy="512064"/>
          </a:xfrm>
          <a:prstGeom prst="rect">
            <a:avLst/>
          </a:prstGeom>
          <a:noFill/>
        </p:spPr>
        <p:txBody>
          <a:bodyPr wrap="square" lIns="0" rIns="0" tIns="0" bIns="0" anchor="t">
            <a:spAutoFit/>
          </a:bodyPr>
          <a:lstStyle/>
          <a:p>
            <a:pPr algn="l">
              <a:lnSpc>
                <a:spcPct val="100000"/>
              </a:lnSpc>
            </a:pPr>
            <a:r>
              <a:rPr sz="1050" b="0">
                <a:solidFill>
                  <a:srgbClr val="71635D"/>
                </a:solidFill>
                <a:latin typeface="Aptos"/>
              </a:rPr>
              <a:t>Theme, models, database, repositories, providers</a:t>
            </a:r>
          </a:p>
        </p:txBody>
      </p:sp>
      <p:sp>
        <p:nvSpPr>
          <p:cNvPr id="20" name="Rounded Rectangle 19"/>
          <p:cNvSpPr/>
          <p:nvPr/>
        </p:nvSpPr>
        <p:spPr>
          <a:xfrm>
            <a:off x="3246120" y="3236976"/>
            <a:ext cx="3794760" cy="960120"/>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410712" y="3447288"/>
            <a:ext cx="530352" cy="530352"/>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10712" y="3502152"/>
            <a:ext cx="530352" cy="228600"/>
          </a:xfrm>
          <a:prstGeom prst="rect">
            <a:avLst/>
          </a:prstGeom>
          <a:noFill/>
        </p:spPr>
        <p:txBody>
          <a:bodyPr wrap="square" lIns="0" rIns="0" tIns="0" bIns="0" anchor="t">
            <a:spAutoFit/>
          </a:bodyPr>
          <a:lstStyle/>
          <a:p>
            <a:pPr algn="ctr">
              <a:lnSpc>
                <a:spcPct val="100000"/>
              </a:lnSpc>
            </a:pPr>
            <a:r>
              <a:rPr sz="1300" b="1">
                <a:solidFill>
                  <a:srgbClr val="FFFFFF"/>
                </a:solidFill>
                <a:latin typeface="Aptos"/>
              </a:rPr>
              <a:t>2</a:t>
            </a:r>
          </a:p>
        </p:txBody>
      </p:sp>
      <p:sp>
        <p:nvSpPr>
          <p:cNvPr id="23" name="TextBox 22"/>
          <p:cNvSpPr txBox="1"/>
          <p:nvPr/>
        </p:nvSpPr>
        <p:spPr>
          <a:xfrm>
            <a:off x="4087368" y="3401568"/>
            <a:ext cx="2807208" cy="256032"/>
          </a:xfrm>
          <a:prstGeom prst="rect">
            <a:avLst/>
          </a:prstGeom>
          <a:noFill/>
        </p:spPr>
        <p:txBody>
          <a:bodyPr wrap="square" lIns="0" rIns="0" tIns="0" bIns="0" anchor="t">
            <a:spAutoFit/>
          </a:bodyPr>
          <a:lstStyle/>
          <a:p>
            <a:pPr algn="l">
              <a:lnSpc>
                <a:spcPct val="100000"/>
              </a:lnSpc>
            </a:pPr>
            <a:r>
              <a:rPr sz="1400" b="1">
                <a:solidFill>
                  <a:srgbClr val="542819"/>
                </a:solidFill>
                <a:latin typeface="Aptos"/>
              </a:rPr>
              <a:t>Customer journey</a:t>
            </a:r>
          </a:p>
        </p:txBody>
      </p:sp>
      <p:sp>
        <p:nvSpPr>
          <p:cNvPr id="24" name="TextBox 23"/>
          <p:cNvSpPr txBox="1"/>
          <p:nvPr/>
        </p:nvSpPr>
        <p:spPr>
          <a:xfrm>
            <a:off x="4087368" y="3730752"/>
            <a:ext cx="2807208" cy="512064"/>
          </a:xfrm>
          <a:prstGeom prst="rect">
            <a:avLst/>
          </a:prstGeom>
          <a:noFill/>
        </p:spPr>
        <p:txBody>
          <a:bodyPr wrap="square" lIns="0" rIns="0" tIns="0" bIns="0" anchor="t">
            <a:spAutoFit/>
          </a:bodyPr>
          <a:lstStyle/>
          <a:p>
            <a:pPr algn="l">
              <a:lnSpc>
                <a:spcPct val="100000"/>
              </a:lnSpc>
            </a:pPr>
            <a:r>
              <a:rPr sz="1050" b="0">
                <a:solidFill>
                  <a:srgbClr val="71635D"/>
                </a:solidFill>
                <a:latin typeface="Aptos"/>
              </a:rPr>
              <a:t>Browse, details, cart, checkout, orders, profile</a:t>
            </a:r>
          </a:p>
        </p:txBody>
      </p:sp>
      <p:sp>
        <p:nvSpPr>
          <p:cNvPr id="25" name="Rounded Rectangle 24"/>
          <p:cNvSpPr/>
          <p:nvPr/>
        </p:nvSpPr>
        <p:spPr>
          <a:xfrm>
            <a:off x="3246120" y="4370832"/>
            <a:ext cx="3794760" cy="960120"/>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410712" y="4581144"/>
            <a:ext cx="530352" cy="530352"/>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10712" y="4636008"/>
            <a:ext cx="530352" cy="228600"/>
          </a:xfrm>
          <a:prstGeom prst="rect">
            <a:avLst/>
          </a:prstGeom>
          <a:noFill/>
        </p:spPr>
        <p:txBody>
          <a:bodyPr wrap="square" lIns="0" rIns="0" tIns="0" bIns="0" anchor="t">
            <a:spAutoFit/>
          </a:bodyPr>
          <a:lstStyle/>
          <a:p>
            <a:pPr algn="ctr">
              <a:lnSpc>
                <a:spcPct val="100000"/>
              </a:lnSpc>
            </a:pPr>
            <a:r>
              <a:rPr sz="1300" b="1">
                <a:solidFill>
                  <a:srgbClr val="FFFFFF"/>
                </a:solidFill>
                <a:latin typeface="Aptos"/>
              </a:rPr>
              <a:t>3</a:t>
            </a:r>
          </a:p>
        </p:txBody>
      </p:sp>
      <p:sp>
        <p:nvSpPr>
          <p:cNvPr id="28" name="TextBox 27"/>
          <p:cNvSpPr txBox="1"/>
          <p:nvPr/>
        </p:nvSpPr>
        <p:spPr>
          <a:xfrm>
            <a:off x="4087368" y="4535424"/>
            <a:ext cx="2807208" cy="256032"/>
          </a:xfrm>
          <a:prstGeom prst="rect">
            <a:avLst/>
          </a:prstGeom>
          <a:noFill/>
        </p:spPr>
        <p:txBody>
          <a:bodyPr wrap="square" lIns="0" rIns="0" tIns="0" bIns="0" anchor="t">
            <a:spAutoFit/>
          </a:bodyPr>
          <a:lstStyle/>
          <a:p>
            <a:pPr algn="l">
              <a:lnSpc>
                <a:spcPct val="100000"/>
              </a:lnSpc>
            </a:pPr>
            <a:r>
              <a:rPr sz="1400" b="1">
                <a:solidFill>
                  <a:srgbClr val="542819"/>
                </a:solidFill>
                <a:latin typeface="Aptos"/>
              </a:rPr>
              <a:t>Extended operations</a:t>
            </a:r>
          </a:p>
        </p:txBody>
      </p:sp>
      <p:sp>
        <p:nvSpPr>
          <p:cNvPr id="29" name="TextBox 28"/>
          <p:cNvSpPr txBox="1"/>
          <p:nvPr/>
        </p:nvSpPr>
        <p:spPr>
          <a:xfrm>
            <a:off x="4087368" y="4864608"/>
            <a:ext cx="2807208" cy="512064"/>
          </a:xfrm>
          <a:prstGeom prst="rect">
            <a:avLst/>
          </a:prstGeom>
          <a:noFill/>
        </p:spPr>
        <p:txBody>
          <a:bodyPr wrap="square" lIns="0" rIns="0" tIns="0" bIns="0" anchor="t">
            <a:spAutoFit/>
          </a:bodyPr>
          <a:lstStyle/>
          <a:p>
            <a:pPr algn="l">
              <a:lnSpc>
                <a:spcPct val="100000"/>
              </a:lnSpc>
            </a:pPr>
            <a:r>
              <a:rPr sz="1050" b="0">
                <a:solidFill>
                  <a:srgbClr val="71635D"/>
                </a:solidFill>
                <a:latin typeface="Aptos"/>
              </a:rPr>
              <a:t>Authentication, admin, chat, notifications, dark mode</a:t>
            </a:r>
          </a:p>
        </p:txBody>
      </p:sp>
      <p:sp>
        <p:nvSpPr>
          <p:cNvPr id="30" name="Rounded Rectangle 29"/>
          <p:cNvSpPr/>
          <p:nvPr/>
        </p:nvSpPr>
        <p:spPr>
          <a:xfrm>
            <a:off x="3246120" y="5504688"/>
            <a:ext cx="3794760" cy="960120"/>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410712" y="5715000"/>
            <a:ext cx="530352" cy="530352"/>
          </a:xfrm>
          <a:prstGeom prst="ellipse">
            <a:avLst/>
          </a:prstGeom>
          <a:solidFill>
            <a:srgbClr val="CC3D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10712" y="5769864"/>
            <a:ext cx="530352" cy="228600"/>
          </a:xfrm>
          <a:prstGeom prst="rect">
            <a:avLst/>
          </a:prstGeom>
          <a:noFill/>
        </p:spPr>
        <p:txBody>
          <a:bodyPr wrap="square" lIns="0" rIns="0" tIns="0" bIns="0" anchor="t">
            <a:spAutoFit/>
          </a:bodyPr>
          <a:lstStyle/>
          <a:p>
            <a:pPr algn="ctr">
              <a:lnSpc>
                <a:spcPct val="100000"/>
              </a:lnSpc>
            </a:pPr>
            <a:r>
              <a:rPr sz="1300" b="1">
                <a:solidFill>
                  <a:srgbClr val="FFFFFF"/>
                </a:solidFill>
                <a:latin typeface="Aptos"/>
              </a:rPr>
              <a:t>4</a:t>
            </a:r>
          </a:p>
        </p:txBody>
      </p:sp>
      <p:sp>
        <p:nvSpPr>
          <p:cNvPr id="33" name="TextBox 32"/>
          <p:cNvSpPr txBox="1"/>
          <p:nvPr/>
        </p:nvSpPr>
        <p:spPr>
          <a:xfrm>
            <a:off x="4087368" y="5669280"/>
            <a:ext cx="2807208" cy="256032"/>
          </a:xfrm>
          <a:prstGeom prst="rect">
            <a:avLst/>
          </a:prstGeom>
          <a:noFill/>
        </p:spPr>
        <p:txBody>
          <a:bodyPr wrap="square" lIns="0" rIns="0" tIns="0" bIns="0" anchor="t">
            <a:spAutoFit/>
          </a:bodyPr>
          <a:lstStyle/>
          <a:p>
            <a:pPr algn="l">
              <a:lnSpc>
                <a:spcPct val="100000"/>
              </a:lnSpc>
            </a:pPr>
            <a:r>
              <a:rPr sz="1400" b="1">
                <a:solidFill>
                  <a:srgbClr val="542819"/>
                </a:solidFill>
                <a:latin typeface="Aptos"/>
              </a:rPr>
              <a:t>Quality</a:t>
            </a:r>
          </a:p>
        </p:txBody>
      </p:sp>
      <p:sp>
        <p:nvSpPr>
          <p:cNvPr id="34" name="TextBox 33"/>
          <p:cNvSpPr txBox="1"/>
          <p:nvPr/>
        </p:nvSpPr>
        <p:spPr>
          <a:xfrm>
            <a:off x="4087368" y="5998464"/>
            <a:ext cx="2807208" cy="512064"/>
          </a:xfrm>
          <a:prstGeom prst="rect">
            <a:avLst/>
          </a:prstGeom>
          <a:noFill/>
        </p:spPr>
        <p:txBody>
          <a:bodyPr wrap="square" lIns="0" rIns="0" tIns="0" bIns="0" anchor="t">
            <a:spAutoFit/>
          </a:bodyPr>
          <a:lstStyle/>
          <a:p>
            <a:pPr algn="l">
              <a:lnSpc>
                <a:spcPct val="100000"/>
              </a:lnSpc>
            </a:pPr>
            <a:r>
              <a:rPr sz="1050" b="0">
                <a:solidFill>
                  <a:srgbClr val="71635D"/>
                </a:solidFill>
                <a:latin typeface="Aptos"/>
              </a:rPr>
              <a:t>Responsive states, accessibility, resilience tests, documentation</a:t>
            </a:r>
          </a:p>
        </p:txBody>
      </p:sp>
      <p:sp>
        <p:nvSpPr>
          <p:cNvPr id="35" name="Rounded Rectangle 34"/>
          <p:cNvSpPr/>
          <p:nvPr/>
        </p:nvSpPr>
        <p:spPr>
          <a:xfrm>
            <a:off x="7388352" y="2057400"/>
            <a:ext cx="4078224" cy="3611880"/>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9248" y="2386584"/>
            <a:ext cx="3456432" cy="493776"/>
          </a:xfrm>
          <a:prstGeom prst="rect">
            <a:avLst/>
          </a:prstGeom>
          <a:noFill/>
        </p:spPr>
        <p:txBody>
          <a:bodyPr wrap="square" lIns="0" rIns="0" tIns="0" bIns="0" anchor="t">
            <a:spAutoFit/>
          </a:bodyPr>
          <a:lstStyle/>
          <a:p>
            <a:pPr algn="l">
              <a:lnSpc>
                <a:spcPct val="100000"/>
              </a:lnSpc>
            </a:pPr>
            <a:r>
              <a:rPr sz="1700" b="1">
                <a:solidFill>
                  <a:srgbClr val="542819"/>
                </a:solidFill>
                <a:latin typeface="Aptos"/>
              </a:rPr>
              <a:t>Demonstrate contribution with evidence</a:t>
            </a:r>
          </a:p>
        </p:txBody>
      </p:sp>
      <p:sp>
        <p:nvSpPr>
          <p:cNvPr id="37" name="TextBox 36"/>
          <p:cNvSpPr txBox="1"/>
          <p:nvPr/>
        </p:nvSpPr>
        <p:spPr>
          <a:xfrm>
            <a:off x="7717536" y="3136392"/>
            <a:ext cx="3346704" cy="2057400"/>
          </a:xfrm>
          <a:prstGeom prst="rect">
            <a:avLst/>
          </a:prstGeom>
          <a:noFill/>
        </p:spPr>
        <p:txBody>
          <a:bodyPr wrap="square" lIns="0" rIns="0" tIns="0" bIns="0">
            <a:spAutoFit/>
          </a:bodyPr>
          <a:lstStyle/>
          <a:p>
            <a:pPr>
              <a:lnSpc>
                <a:spcPct val="105000"/>
              </a:lnSpc>
              <a:spcAft>
                <a:spcPts val="1000"/>
              </a:spcAft>
            </a:pPr>
            <a:r>
              <a:rPr sz="800">
                <a:solidFill>
                  <a:srgbClr val="CC3D05"/>
                </a:solidFill>
                <a:latin typeface="Aptos"/>
              </a:rPr>
              <a:t>●  </a:t>
            </a:r>
            <a:r>
              <a:rPr sz="1250" b="1">
                <a:solidFill>
                  <a:srgbClr val="201714"/>
                </a:solidFill>
                <a:latin typeface="Aptos"/>
              </a:rPr>
              <a:t>Code: </a:t>
            </a:r>
            <a:r>
              <a:rPr sz="1250">
                <a:solidFill>
                  <a:srgbClr val="201714"/>
                </a:solidFill>
                <a:latin typeface="Aptos"/>
              </a:rPr>
              <a:t>open one provider/repository pair</a:t>
            </a:r>
          </a:p>
          <a:p>
            <a:pPr>
              <a:lnSpc>
                <a:spcPct val="105000"/>
              </a:lnSpc>
              <a:spcAft>
                <a:spcPts val="1000"/>
              </a:spcAft>
            </a:pPr>
            <a:r>
              <a:rPr sz="800">
                <a:solidFill>
                  <a:srgbClr val="CC3D05"/>
                </a:solidFill>
                <a:latin typeface="Aptos"/>
              </a:rPr>
              <a:t>●  </a:t>
            </a:r>
            <a:r>
              <a:rPr sz="1250" b="1">
                <a:solidFill>
                  <a:srgbClr val="201714"/>
                </a:solidFill>
                <a:latin typeface="Aptos"/>
              </a:rPr>
              <a:t>Database: </a:t>
            </a:r>
            <a:r>
              <a:rPr sz="1250">
                <a:solidFill>
                  <a:srgbClr val="201714"/>
                </a:solidFill>
                <a:latin typeface="Aptos"/>
              </a:rPr>
              <a:t>show the transaction and schema</a:t>
            </a:r>
          </a:p>
          <a:p>
            <a:pPr>
              <a:lnSpc>
                <a:spcPct val="105000"/>
              </a:lnSpc>
              <a:spcAft>
                <a:spcPts val="1000"/>
              </a:spcAft>
            </a:pPr>
            <a:r>
              <a:rPr sz="800">
                <a:solidFill>
                  <a:srgbClr val="CC3D05"/>
                </a:solidFill>
                <a:latin typeface="Aptos"/>
              </a:rPr>
              <a:t>●  </a:t>
            </a:r>
            <a:r>
              <a:rPr sz="1250" b="1">
                <a:solidFill>
                  <a:srgbClr val="201714"/>
                </a:solidFill>
                <a:latin typeface="Aptos"/>
              </a:rPr>
              <a:t>UI: </a:t>
            </a:r>
            <a:r>
              <a:rPr sz="1250">
                <a:solidFill>
                  <a:srgbClr val="201714"/>
                </a:solidFill>
                <a:latin typeface="Aptos"/>
              </a:rPr>
              <a:t>connect a live screen to its state</a:t>
            </a:r>
          </a:p>
          <a:p>
            <a:pPr>
              <a:lnSpc>
                <a:spcPct val="105000"/>
              </a:lnSpc>
              <a:spcAft>
                <a:spcPts val="1000"/>
              </a:spcAft>
            </a:pPr>
            <a:r>
              <a:rPr sz="800">
                <a:solidFill>
                  <a:srgbClr val="CC3D05"/>
                </a:solidFill>
                <a:latin typeface="Aptos"/>
              </a:rPr>
              <a:t>●  </a:t>
            </a:r>
            <a:r>
              <a:rPr sz="1250" b="1">
                <a:solidFill>
                  <a:srgbClr val="201714"/>
                </a:solidFill>
                <a:latin typeface="Aptos"/>
              </a:rPr>
              <a:t>Tests: </a:t>
            </a:r>
            <a:r>
              <a:rPr sz="1250">
                <a:solidFill>
                  <a:srgbClr val="201714"/>
                </a:solidFill>
                <a:latin typeface="Aptos"/>
              </a:rPr>
              <a:t>show the 42-test result</a:t>
            </a:r>
          </a:p>
          <a:p>
            <a:pPr>
              <a:lnSpc>
                <a:spcPct val="105000"/>
              </a:lnSpc>
              <a:spcAft>
                <a:spcPts val="1000"/>
              </a:spcAft>
            </a:pPr>
            <a:r>
              <a:rPr sz="800">
                <a:solidFill>
                  <a:srgbClr val="CC3D05"/>
                </a:solidFill>
                <a:latin typeface="Aptos"/>
              </a:rPr>
              <a:t>●  </a:t>
            </a:r>
            <a:r>
              <a:rPr sz="1250" b="1">
                <a:solidFill>
                  <a:srgbClr val="201714"/>
                </a:solidFill>
                <a:latin typeface="Aptos"/>
              </a:rPr>
              <a:t>Git: </a:t>
            </a:r>
            <a:r>
              <a:rPr sz="1250">
                <a:solidFill>
                  <a:srgbClr val="201714"/>
                </a:solidFill>
                <a:latin typeface="Aptos"/>
              </a:rPr>
              <a:t>show ordered feature commits</a:t>
            </a:r>
          </a:p>
        </p:txBody>
      </p:sp>
      <p:sp>
        <p:nvSpPr>
          <p:cNvPr id="38" name="TextBox 37"/>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INDIVIDUAL CONTRIBUTION</a:t>
            </a:r>
          </a:p>
        </p:txBody>
      </p:sp>
      <p:sp>
        <p:nvSpPr>
          <p:cNvPr id="39" name="TextBox 38"/>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TECHNOLOGY CHOICES</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Each technology matched a specific project constraint</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The stack stayed small enough to explain while supporting persistence and quality.</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87000" y="402336"/>
            <a:ext cx="1207008" cy="329184"/>
          </a:xfrm>
          <a:prstGeom prst="roundRect">
            <a:avLst>
              <a:gd name="adj" fmla="val 12000"/>
            </a:avLst>
          </a:prstGeom>
          <a:solidFill>
            <a:srgbClr val="E4F1E9"/>
          </a:solidFill>
          <a:ln>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41864" y="429768"/>
            <a:ext cx="1097280" cy="201168"/>
          </a:xfrm>
          <a:prstGeom prst="rect">
            <a:avLst/>
          </a:prstGeom>
          <a:noFill/>
        </p:spPr>
        <p:txBody>
          <a:bodyPr wrap="square" lIns="0" rIns="0" tIns="0" bIns="0" anchor="t">
            <a:spAutoFit/>
          </a:bodyPr>
          <a:lstStyle/>
          <a:p>
            <a:pPr algn="ctr">
              <a:lnSpc>
                <a:spcPct val="100000"/>
              </a:lnSpc>
            </a:pPr>
            <a:r>
              <a:rPr sz="900" b="1">
                <a:solidFill>
                  <a:srgbClr val="218653"/>
                </a:solidFill>
                <a:latin typeface="Aptos"/>
              </a:rPr>
              <a:t>12:00–13:15</a:t>
            </a:r>
          </a:p>
        </p:txBody>
      </p:sp>
      <p:sp>
        <p:nvSpPr>
          <p:cNvPr id="8" name="Rounded Rectangle 7"/>
          <p:cNvSpPr/>
          <p:nvPr/>
        </p:nvSpPr>
        <p:spPr>
          <a:xfrm>
            <a:off x="685800" y="2103120"/>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04288"/>
            <a:ext cx="2560320" cy="274320"/>
          </a:xfrm>
          <a:prstGeom prst="rect">
            <a:avLst/>
          </a:prstGeom>
          <a:noFill/>
        </p:spPr>
        <p:txBody>
          <a:bodyPr wrap="square" lIns="0" rIns="0" tIns="0" bIns="0" anchor="t">
            <a:spAutoFit/>
          </a:bodyPr>
          <a:lstStyle/>
          <a:p>
            <a:pPr algn="l">
              <a:lnSpc>
                <a:spcPct val="100000"/>
              </a:lnSpc>
            </a:pPr>
            <a:r>
              <a:rPr sz="1500" b="1">
                <a:solidFill>
                  <a:srgbClr val="CC3D05"/>
                </a:solidFill>
                <a:latin typeface="Aptos"/>
              </a:rPr>
              <a:t>Flutter + Dart</a:t>
            </a:r>
          </a:p>
        </p:txBody>
      </p:sp>
      <p:sp>
        <p:nvSpPr>
          <p:cNvPr id="10" name="TextBox 9"/>
          <p:cNvSpPr txBox="1"/>
          <p:nvPr/>
        </p:nvSpPr>
        <p:spPr>
          <a:xfrm>
            <a:off x="896112" y="2670048"/>
            <a:ext cx="2560320" cy="310896"/>
          </a:xfrm>
          <a:prstGeom prst="rect">
            <a:avLst/>
          </a:prstGeom>
          <a:noFill/>
        </p:spPr>
        <p:txBody>
          <a:bodyPr wrap="square" lIns="0" rIns="0" tIns="0" bIns="0" anchor="t">
            <a:spAutoFit/>
          </a:bodyPr>
          <a:lstStyle/>
          <a:p>
            <a:pPr algn="l">
              <a:lnSpc>
                <a:spcPct val="100000"/>
              </a:lnSpc>
            </a:pPr>
            <a:r>
              <a:rPr sz="1150" b="1">
                <a:solidFill>
                  <a:srgbClr val="542819"/>
                </a:solidFill>
                <a:latin typeface="Aptos"/>
              </a:rPr>
              <a:t>One Android UI codebase</a:t>
            </a:r>
          </a:p>
        </p:txBody>
      </p:sp>
      <p:sp>
        <p:nvSpPr>
          <p:cNvPr id="11" name="TextBox 10"/>
          <p:cNvSpPr txBox="1"/>
          <p:nvPr/>
        </p:nvSpPr>
        <p:spPr>
          <a:xfrm>
            <a:off x="896112" y="3063239"/>
            <a:ext cx="2560320" cy="457200"/>
          </a:xfrm>
          <a:prstGeom prst="rect">
            <a:avLst/>
          </a:prstGeom>
          <a:noFill/>
        </p:spPr>
        <p:txBody>
          <a:bodyPr wrap="square" lIns="0" rIns="0" tIns="0" bIns="0" anchor="t">
            <a:spAutoFit/>
          </a:bodyPr>
          <a:lstStyle/>
          <a:p>
            <a:pPr algn="l">
              <a:lnSpc>
                <a:spcPct val="100000"/>
              </a:lnSpc>
            </a:pPr>
            <a:r>
              <a:rPr sz="960" b="0">
                <a:solidFill>
                  <a:srgbClr val="71635D"/>
                </a:solidFill>
                <a:latin typeface="Aptos"/>
              </a:rPr>
              <a:t>Widget composition, typed models, hot reload</a:t>
            </a:r>
          </a:p>
        </p:txBody>
      </p:sp>
      <p:sp>
        <p:nvSpPr>
          <p:cNvPr id="12" name="Rounded Rectangle 11"/>
          <p:cNvSpPr/>
          <p:nvPr/>
        </p:nvSpPr>
        <p:spPr>
          <a:xfrm>
            <a:off x="3986784" y="2103120"/>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97096" y="2304288"/>
            <a:ext cx="2560320" cy="274320"/>
          </a:xfrm>
          <a:prstGeom prst="rect">
            <a:avLst/>
          </a:prstGeom>
          <a:noFill/>
        </p:spPr>
        <p:txBody>
          <a:bodyPr wrap="square" lIns="0" rIns="0" tIns="0" bIns="0" anchor="t">
            <a:spAutoFit/>
          </a:bodyPr>
          <a:lstStyle/>
          <a:p>
            <a:pPr algn="l">
              <a:lnSpc>
                <a:spcPct val="100000"/>
              </a:lnSpc>
            </a:pPr>
            <a:r>
              <a:rPr sz="1500" b="1">
                <a:solidFill>
                  <a:srgbClr val="CC3D05"/>
                </a:solidFill>
                <a:latin typeface="Aptos"/>
              </a:rPr>
              <a:t>Material 3</a:t>
            </a:r>
          </a:p>
        </p:txBody>
      </p:sp>
      <p:sp>
        <p:nvSpPr>
          <p:cNvPr id="14" name="TextBox 13"/>
          <p:cNvSpPr txBox="1"/>
          <p:nvPr/>
        </p:nvSpPr>
        <p:spPr>
          <a:xfrm>
            <a:off x="4197096" y="2670048"/>
            <a:ext cx="2560320" cy="310896"/>
          </a:xfrm>
          <a:prstGeom prst="rect">
            <a:avLst/>
          </a:prstGeom>
          <a:noFill/>
        </p:spPr>
        <p:txBody>
          <a:bodyPr wrap="square" lIns="0" rIns="0" tIns="0" bIns="0" anchor="t">
            <a:spAutoFit/>
          </a:bodyPr>
          <a:lstStyle/>
          <a:p>
            <a:pPr algn="l">
              <a:lnSpc>
                <a:spcPct val="100000"/>
              </a:lnSpc>
            </a:pPr>
            <a:r>
              <a:rPr sz="1150" b="1">
                <a:solidFill>
                  <a:srgbClr val="542819"/>
                </a:solidFill>
                <a:latin typeface="Aptos"/>
              </a:rPr>
              <a:t>Consistent and accessible interface</a:t>
            </a:r>
          </a:p>
        </p:txBody>
      </p:sp>
      <p:sp>
        <p:nvSpPr>
          <p:cNvPr id="15" name="TextBox 14"/>
          <p:cNvSpPr txBox="1"/>
          <p:nvPr/>
        </p:nvSpPr>
        <p:spPr>
          <a:xfrm>
            <a:off x="4197096" y="3063239"/>
            <a:ext cx="2560320" cy="457200"/>
          </a:xfrm>
          <a:prstGeom prst="rect">
            <a:avLst/>
          </a:prstGeom>
          <a:noFill/>
        </p:spPr>
        <p:txBody>
          <a:bodyPr wrap="square" lIns="0" rIns="0" tIns="0" bIns="0" anchor="t">
            <a:spAutoFit/>
          </a:bodyPr>
          <a:lstStyle/>
          <a:p>
            <a:pPr algn="l">
              <a:lnSpc>
                <a:spcPct val="100000"/>
              </a:lnSpc>
            </a:pPr>
            <a:r>
              <a:rPr sz="960" b="0">
                <a:solidFill>
                  <a:srgbClr val="71635D"/>
                </a:solidFill>
                <a:latin typeface="Aptos"/>
              </a:rPr>
              <a:t>NavigationBar, forms, cards, colour schemes</a:t>
            </a:r>
          </a:p>
        </p:txBody>
      </p:sp>
      <p:sp>
        <p:nvSpPr>
          <p:cNvPr id="16" name="Rounded Rectangle 15"/>
          <p:cNvSpPr/>
          <p:nvPr/>
        </p:nvSpPr>
        <p:spPr>
          <a:xfrm>
            <a:off x="7287768" y="2103120"/>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2304288"/>
            <a:ext cx="2560320" cy="274320"/>
          </a:xfrm>
          <a:prstGeom prst="rect">
            <a:avLst/>
          </a:prstGeom>
          <a:noFill/>
        </p:spPr>
        <p:txBody>
          <a:bodyPr wrap="square" lIns="0" rIns="0" tIns="0" bIns="0" anchor="t">
            <a:spAutoFit/>
          </a:bodyPr>
          <a:lstStyle/>
          <a:p>
            <a:pPr algn="l">
              <a:lnSpc>
                <a:spcPct val="100000"/>
              </a:lnSpc>
            </a:pPr>
            <a:r>
              <a:rPr sz="1500" b="1">
                <a:solidFill>
                  <a:srgbClr val="CC3D05"/>
                </a:solidFill>
                <a:latin typeface="Aptos"/>
              </a:rPr>
              <a:t>Provider</a:t>
            </a:r>
          </a:p>
        </p:txBody>
      </p:sp>
      <p:sp>
        <p:nvSpPr>
          <p:cNvPr id="18" name="TextBox 17"/>
          <p:cNvSpPr txBox="1"/>
          <p:nvPr/>
        </p:nvSpPr>
        <p:spPr>
          <a:xfrm>
            <a:off x="7498079" y="2670048"/>
            <a:ext cx="2560320" cy="310896"/>
          </a:xfrm>
          <a:prstGeom prst="rect">
            <a:avLst/>
          </a:prstGeom>
          <a:noFill/>
        </p:spPr>
        <p:txBody>
          <a:bodyPr wrap="square" lIns="0" rIns="0" tIns="0" bIns="0" anchor="t">
            <a:spAutoFit/>
          </a:bodyPr>
          <a:lstStyle/>
          <a:p>
            <a:pPr algn="l">
              <a:lnSpc>
                <a:spcPct val="100000"/>
              </a:lnSpc>
            </a:pPr>
            <a:r>
              <a:rPr sz="1150" b="1">
                <a:solidFill>
                  <a:srgbClr val="542819"/>
                </a:solidFill>
                <a:latin typeface="Aptos"/>
              </a:rPr>
              <a:t>Simple observable state</a:t>
            </a:r>
          </a:p>
        </p:txBody>
      </p:sp>
      <p:sp>
        <p:nvSpPr>
          <p:cNvPr id="19" name="TextBox 18"/>
          <p:cNvSpPr txBox="1"/>
          <p:nvPr/>
        </p:nvSpPr>
        <p:spPr>
          <a:xfrm>
            <a:off x="7498079" y="3063239"/>
            <a:ext cx="2560320" cy="457200"/>
          </a:xfrm>
          <a:prstGeom prst="rect">
            <a:avLst/>
          </a:prstGeom>
          <a:noFill/>
        </p:spPr>
        <p:txBody>
          <a:bodyPr wrap="square" lIns="0" rIns="0" tIns="0" bIns="0" anchor="t">
            <a:spAutoFit/>
          </a:bodyPr>
          <a:lstStyle/>
          <a:p>
            <a:pPr algn="l">
              <a:lnSpc>
                <a:spcPct val="100000"/>
              </a:lnSpc>
            </a:pPr>
            <a:r>
              <a:rPr sz="960" b="0">
                <a:solidFill>
                  <a:srgbClr val="71635D"/>
                </a:solidFill>
                <a:latin typeface="Aptos"/>
              </a:rPr>
              <a:t>ChangeNotifier matched the app’s undergraduate scale</a:t>
            </a:r>
          </a:p>
        </p:txBody>
      </p:sp>
      <p:sp>
        <p:nvSpPr>
          <p:cNvPr id="20" name="Rounded Rectangle 19"/>
          <p:cNvSpPr/>
          <p:nvPr/>
        </p:nvSpPr>
        <p:spPr>
          <a:xfrm>
            <a:off x="685800" y="4023360"/>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224528"/>
            <a:ext cx="2560320" cy="274320"/>
          </a:xfrm>
          <a:prstGeom prst="rect">
            <a:avLst/>
          </a:prstGeom>
          <a:noFill/>
        </p:spPr>
        <p:txBody>
          <a:bodyPr wrap="square" lIns="0" rIns="0" tIns="0" bIns="0" anchor="t">
            <a:spAutoFit/>
          </a:bodyPr>
          <a:lstStyle/>
          <a:p>
            <a:pPr algn="l">
              <a:lnSpc>
                <a:spcPct val="100000"/>
              </a:lnSpc>
            </a:pPr>
            <a:r>
              <a:rPr sz="1500" b="1">
                <a:solidFill>
                  <a:srgbClr val="CC3D05"/>
                </a:solidFill>
                <a:latin typeface="Aptos"/>
              </a:rPr>
              <a:t>SQLite + sqflite</a:t>
            </a:r>
          </a:p>
        </p:txBody>
      </p:sp>
      <p:sp>
        <p:nvSpPr>
          <p:cNvPr id="22" name="TextBox 21"/>
          <p:cNvSpPr txBox="1"/>
          <p:nvPr/>
        </p:nvSpPr>
        <p:spPr>
          <a:xfrm>
            <a:off x="896112" y="4590288"/>
            <a:ext cx="2560320" cy="310896"/>
          </a:xfrm>
          <a:prstGeom prst="rect">
            <a:avLst/>
          </a:prstGeom>
          <a:noFill/>
        </p:spPr>
        <p:txBody>
          <a:bodyPr wrap="square" lIns="0" rIns="0" tIns="0" bIns="0" anchor="t">
            <a:spAutoFit/>
          </a:bodyPr>
          <a:lstStyle/>
          <a:p>
            <a:pPr algn="l">
              <a:lnSpc>
                <a:spcPct val="100000"/>
              </a:lnSpc>
            </a:pPr>
            <a:r>
              <a:rPr sz="1150" b="1">
                <a:solidFill>
                  <a:srgbClr val="542819"/>
                </a:solidFill>
                <a:latin typeface="Aptos"/>
              </a:rPr>
              <a:t>Reliable local persistence</a:t>
            </a:r>
          </a:p>
        </p:txBody>
      </p:sp>
      <p:sp>
        <p:nvSpPr>
          <p:cNvPr id="23" name="TextBox 22"/>
          <p:cNvSpPr txBox="1"/>
          <p:nvPr/>
        </p:nvSpPr>
        <p:spPr>
          <a:xfrm>
            <a:off x="896112" y="4983480"/>
            <a:ext cx="2560320" cy="457200"/>
          </a:xfrm>
          <a:prstGeom prst="rect">
            <a:avLst/>
          </a:prstGeom>
          <a:noFill/>
        </p:spPr>
        <p:txBody>
          <a:bodyPr wrap="square" lIns="0" rIns="0" tIns="0" bIns="0" anchor="t">
            <a:spAutoFit/>
          </a:bodyPr>
          <a:lstStyle/>
          <a:p>
            <a:pPr algn="l">
              <a:lnSpc>
                <a:spcPct val="100000"/>
              </a:lnSpc>
            </a:pPr>
            <a:r>
              <a:rPr sz="960" b="0">
                <a:solidFill>
                  <a:srgbClr val="71635D"/>
                </a:solidFill>
                <a:latin typeface="Aptos"/>
              </a:rPr>
              <a:t>Offline cart, orders, users, chat, transactions</a:t>
            </a:r>
          </a:p>
        </p:txBody>
      </p:sp>
      <p:sp>
        <p:nvSpPr>
          <p:cNvPr id="24" name="Rounded Rectangle 23"/>
          <p:cNvSpPr/>
          <p:nvPr/>
        </p:nvSpPr>
        <p:spPr>
          <a:xfrm>
            <a:off x="3986784" y="4023360"/>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97096" y="4224528"/>
            <a:ext cx="2560320" cy="274320"/>
          </a:xfrm>
          <a:prstGeom prst="rect">
            <a:avLst/>
          </a:prstGeom>
          <a:noFill/>
        </p:spPr>
        <p:txBody>
          <a:bodyPr wrap="square" lIns="0" rIns="0" tIns="0" bIns="0" anchor="t">
            <a:spAutoFit/>
          </a:bodyPr>
          <a:lstStyle/>
          <a:p>
            <a:pPr algn="l">
              <a:lnSpc>
                <a:spcPct val="100000"/>
              </a:lnSpc>
            </a:pPr>
            <a:r>
              <a:rPr sz="1500" b="1">
                <a:solidFill>
                  <a:srgbClr val="CC3D05"/>
                </a:solidFill>
                <a:latin typeface="Aptos"/>
              </a:rPr>
              <a:t>crypto</a:t>
            </a:r>
          </a:p>
        </p:txBody>
      </p:sp>
      <p:sp>
        <p:nvSpPr>
          <p:cNvPr id="26" name="TextBox 25"/>
          <p:cNvSpPr txBox="1"/>
          <p:nvPr/>
        </p:nvSpPr>
        <p:spPr>
          <a:xfrm>
            <a:off x="4197096" y="4590288"/>
            <a:ext cx="2560320" cy="310896"/>
          </a:xfrm>
          <a:prstGeom prst="rect">
            <a:avLst/>
          </a:prstGeom>
          <a:noFill/>
        </p:spPr>
        <p:txBody>
          <a:bodyPr wrap="square" lIns="0" rIns="0" tIns="0" bIns="0" anchor="t">
            <a:spAutoFit/>
          </a:bodyPr>
          <a:lstStyle/>
          <a:p>
            <a:pPr algn="l">
              <a:lnSpc>
                <a:spcPct val="100000"/>
              </a:lnSpc>
            </a:pPr>
            <a:r>
              <a:rPr sz="1150" b="1">
                <a:solidFill>
                  <a:srgbClr val="542819"/>
                </a:solidFill>
                <a:latin typeface="Aptos"/>
              </a:rPr>
              <a:t>Avoid plain-text demo passwords</a:t>
            </a:r>
          </a:p>
        </p:txBody>
      </p:sp>
      <p:sp>
        <p:nvSpPr>
          <p:cNvPr id="27" name="TextBox 26"/>
          <p:cNvSpPr txBox="1"/>
          <p:nvPr/>
        </p:nvSpPr>
        <p:spPr>
          <a:xfrm>
            <a:off x="4197096" y="4983480"/>
            <a:ext cx="2560320" cy="457200"/>
          </a:xfrm>
          <a:prstGeom prst="rect">
            <a:avLst/>
          </a:prstGeom>
          <a:noFill/>
        </p:spPr>
        <p:txBody>
          <a:bodyPr wrap="square" lIns="0" rIns="0" tIns="0" bIns="0" anchor="t">
            <a:spAutoFit/>
          </a:bodyPr>
          <a:lstStyle/>
          <a:p>
            <a:pPr algn="l">
              <a:lnSpc>
                <a:spcPct val="100000"/>
              </a:lnSpc>
            </a:pPr>
            <a:r>
              <a:rPr sz="960" b="0">
                <a:solidFill>
                  <a:srgbClr val="71635D"/>
                </a:solidFill>
                <a:latin typeface="Aptos"/>
              </a:rPr>
              <a:t>SHA-256 hash stored locally; not claimed as production auth</a:t>
            </a:r>
          </a:p>
        </p:txBody>
      </p:sp>
      <p:sp>
        <p:nvSpPr>
          <p:cNvPr id="28" name="Rounded Rectangle 27"/>
          <p:cNvSpPr/>
          <p:nvPr/>
        </p:nvSpPr>
        <p:spPr>
          <a:xfrm>
            <a:off x="7287768" y="4023360"/>
            <a:ext cx="2962656" cy="157276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79" y="4224528"/>
            <a:ext cx="2560320" cy="274320"/>
          </a:xfrm>
          <a:prstGeom prst="rect">
            <a:avLst/>
          </a:prstGeom>
          <a:noFill/>
        </p:spPr>
        <p:txBody>
          <a:bodyPr wrap="square" lIns="0" rIns="0" tIns="0" bIns="0" anchor="t">
            <a:spAutoFit/>
          </a:bodyPr>
          <a:lstStyle/>
          <a:p>
            <a:pPr algn="l">
              <a:lnSpc>
                <a:spcPct val="100000"/>
              </a:lnSpc>
            </a:pPr>
            <a:r>
              <a:rPr sz="1500" b="1">
                <a:solidFill>
                  <a:srgbClr val="CC3D05"/>
                </a:solidFill>
                <a:latin typeface="Aptos"/>
              </a:rPr>
              <a:t>Flutter test + Git</a:t>
            </a:r>
          </a:p>
        </p:txBody>
      </p:sp>
      <p:sp>
        <p:nvSpPr>
          <p:cNvPr id="30" name="TextBox 29"/>
          <p:cNvSpPr txBox="1"/>
          <p:nvPr/>
        </p:nvSpPr>
        <p:spPr>
          <a:xfrm>
            <a:off x="7498079" y="4590288"/>
            <a:ext cx="2560320" cy="310896"/>
          </a:xfrm>
          <a:prstGeom prst="rect">
            <a:avLst/>
          </a:prstGeom>
          <a:noFill/>
        </p:spPr>
        <p:txBody>
          <a:bodyPr wrap="square" lIns="0" rIns="0" tIns="0" bIns="0" anchor="t">
            <a:spAutoFit/>
          </a:bodyPr>
          <a:lstStyle/>
          <a:p>
            <a:pPr algn="l">
              <a:lnSpc>
                <a:spcPct val="100000"/>
              </a:lnSpc>
            </a:pPr>
            <a:r>
              <a:rPr sz="1150" b="1">
                <a:solidFill>
                  <a:srgbClr val="542819"/>
                </a:solidFill>
                <a:latin typeface="Aptos"/>
              </a:rPr>
              <a:t>Evidence and change control</a:t>
            </a:r>
          </a:p>
        </p:txBody>
      </p:sp>
      <p:sp>
        <p:nvSpPr>
          <p:cNvPr id="31" name="TextBox 30"/>
          <p:cNvSpPr txBox="1"/>
          <p:nvPr/>
        </p:nvSpPr>
        <p:spPr>
          <a:xfrm>
            <a:off x="7498079" y="4983480"/>
            <a:ext cx="2560320" cy="457200"/>
          </a:xfrm>
          <a:prstGeom prst="rect">
            <a:avLst/>
          </a:prstGeom>
          <a:noFill/>
        </p:spPr>
        <p:txBody>
          <a:bodyPr wrap="square" lIns="0" rIns="0" tIns="0" bIns="0" anchor="t">
            <a:spAutoFit/>
          </a:bodyPr>
          <a:lstStyle/>
          <a:p>
            <a:pPr algn="l">
              <a:lnSpc>
                <a:spcPct val="100000"/>
              </a:lnSpc>
            </a:pPr>
            <a:r>
              <a:rPr sz="960" b="0">
                <a:solidFill>
                  <a:srgbClr val="71635D"/>
                </a:solidFill>
                <a:latin typeface="Aptos"/>
              </a:rPr>
              <a:t>42 tests, responsive cases, incremental commits</a:t>
            </a:r>
          </a:p>
        </p:txBody>
      </p:sp>
      <p:sp>
        <p:nvSpPr>
          <p:cNvPr id="32" name="TextBox 31"/>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INDIVIDUAL CONTRIBUTION</a:t>
            </a:r>
          </a:p>
        </p:txBody>
      </p:sp>
      <p:sp>
        <p:nvSpPr>
          <p:cNvPr id="33" name="TextBox 32"/>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RISK MANAGEMENT</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Risks were reduced through design decisions and tests</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The main risks were scope, data consistency, privacy, connectivity, and device variation.</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287000" y="402336"/>
            <a:ext cx="1207008" cy="329184"/>
          </a:xfrm>
          <a:prstGeom prst="roundRect">
            <a:avLst>
              <a:gd name="adj" fmla="val 12000"/>
            </a:avLst>
          </a:prstGeom>
          <a:solidFill>
            <a:srgbClr val="E4F1E9"/>
          </a:solidFill>
          <a:ln>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41864" y="429768"/>
            <a:ext cx="1097280" cy="201168"/>
          </a:xfrm>
          <a:prstGeom prst="rect">
            <a:avLst/>
          </a:prstGeom>
          <a:noFill/>
        </p:spPr>
        <p:txBody>
          <a:bodyPr wrap="square" lIns="0" rIns="0" tIns="0" bIns="0" anchor="t">
            <a:spAutoFit/>
          </a:bodyPr>
          <a:lstStyle/>
          <a:p>
            <a:pPr algn="ctr">
              <a:lnSpc>
                <a:spcPct val="100000"/>
              </a:lnSpc>
            </a:pPr>
            <a:r>
              <a:rPr sz="900" b="1">
                <a:solidFill>
                  <a:srgbClr val="218653"/>
                </a:solidFill>
                <a:latin typeface="Aptos"/>
              </a:rPr>
              <a:t>13:15–14:30</a:t>
            </a:r>
          </a:p>
        </p:txBody>
      </p:sp>
      <p:sp>
        <p:nvSpPr>
          <p:cNvPr id="8" name="Rectangle 7"/>
          <p:cNvSpPr/>
          <p:nvPr/>
        </p:nvSpPr>
        <p:spPr>
          <a:xfrm>
            <a:off x="685800" y="2075688"/>
            <a:ext cx="10789920" cy="493776"/>
          </a:xfrm>
          <a:prstGeom prst="rect">
            <a:avLst/>
          </a:prstGeom>
          <a:solidFill>
            <a:srgbClr val="542819"/>
          </a:solidFill>
          <a:ln w="12700">
            <a:solidFill>
              <a:srgbClr val="5428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212848"/>
            <a:ext cx="2103120" cy="182880"/>
          </a:xfrm>
          <a:prstGeom prst="rect">
            <a:avLst/>
          </a:prstGeom>
          <a:noFill/>
        </p:spPr>
        <p:txBody>
          <a:bodyPr wrap="square" lIns="0" rIns="0" tIns="0" bIns="0" anchor="t">
            <a:spAutoFit/>
          </a:bodyPr>
          <a:lstStyle/>
          <a:p>
            <a:pPr algn="l">
              <a:lnSpc>
                <a:spcPct val="100000"/>
              </a:lnSpc>
            </a:pPr>
            <a:r>
              <a:rPr sz="1000" b="1">
                <a:solidFill>
                  <a:srgbClr val="FFFFFF"/>
                </a:solidFill>
                <a:latin typeface="Aptos"/>
              </a:rPr>
              <a:t>RISK</a:t>
            </a:r>
          </a:p>
        </p:txBody>
      </p:sp>
      <p:sp>
        <p:nvSpPr>
          <p:cNvPr id="10" name="TextBox 9"/>
          <p:cNvSpPr txBox="1"/>
          <p:nvPr/>
        </p:nvSpPr>
        <p:spPr>
          <a:xfrm>
            <a:off x="3236976" y="2212848"/>
            <a:ext cx="1051560" cy="182880"/>
          </a:xfrm>
          <a:prstGeom prst="rect">
            <a:avLst/>
          </a:prstGeom>
          <a:noFill/>
        </p:spPr>
        <p:txBody>
          <a:bodyPr wrap="square" lIns="0" rIns="0" tIns="0" bIns="0" anchor="t">
            <a:spAutoFit/>
          </a:bodyPr>
          <a:lstStyle/>
          <a:p>
            <a:pPr algn="l">
              <a:lnSpc>
                <a:spcPct val="100000"/>
              </a:lnSpc>
            </a:pPr>
            <a:r>
              <a:rPr sz="1000" b="1">
                <a:solidFill>
                  <a:srgbClr val="FFFFFF"/>
                </a:solidFill>
                <a:latin typeface="Aptos"/>
              </a:rPr>
              <a:t>LEVEL</a:t>
            </a:r>
          </a:p>
        </p:txBody>
      </p:sp>
      <p:sp>
        <p:nvSpPr>
          <p:cNvPr id="11" name="TextBox 10"/>
          <p:cNvSpPr txBox="1"/>
          <p:nvPr/>
        </p:nvSpPr>
        <p:spPr>
          <a:xfrm>
            <a:off x="4407408" y="2212848"/>
            <a:ext cx="6309360" cy="182880"/>
          </a:xfrm>
          <a:prstGeom prst="rect">
            <a:avLst/>
          </a:prstGeom>
          <a:noFill/>
        </p:spPr>
        <p:txBody>
          <a:bodyPr wrap="square" lIns="0" rIns="0" tIns="0" bIns="0" anchor="t">
            <a:spAutoFit/>
          </a:bodyPr>
          <a:lstStyle/>
          <a:p>
            <a:pPr algn="l">
              <a:lnSpc>
                <a:spcPct val="100000"/>
              </a:lnSpc>
            </a:pPr>
            <a:r>
              <a:rPr sz="1000" b="1">
                <a:solidFill>
                  <a:srgbClr val="FFFFFF"/>
                </a:solidFill>
                <a:latin typeface="Aptos"/>
              </a:rPr>
              <a:t>MANAGEMENT IN THE SYSTEM</a:t>
            </a:r>
          </a:p>
        </p:txBody>
      </p:sp>
      <p:sp>
        <p:nvSpPr>
          <p:cNvPr id="12" name="Rectangle 11"/>
          <p:cNvSpPr/>
          <p:nvPr/>
        </p:nvSpPr>
        <p:spPr>
          <a:xfrm>
            <a:off x="685800" y="2578608"/>
            <a:ext cx="10789920" cy="557784"/>
          </a:xfrm>
          <a:prstGeom prst="rect">
            <a:avLst/>
          </a:prstGeom>
          <a:solidFill>
            <a:srgbClr val="FFFCF8"/>
          </a:solidFill>
          <a:ln w="635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734056"/>
            <a:ext cx="2139696" cy="219456"/>
          </a:xfrm>
          <a:prstGeom prst="rect">
            <a:avLst/>
          </a:prstGeom>
          <a:noFill/>
        </p:spPr>
        <p:txBody>
          <a:bodyPr wrap="square" lIns="0" rIns="0" tIns="0" bIns="0" anchor="t">
            <a:spAutoFit/>
          </a:bodyPr>
          <a:lstStyle/>
          <a:p>
            <a:pPr algn="l">
              <a:lnSpc>
                <a:spcPct val="100000"/>
              </a:lnSpc>
            </a:pPr>
            <a:r>
              <a:rPr sz="1120" b="1">
                <a:solidFill>
                  <a:srgbClr val="201714"/>
                </a:solidFill>
                <a:latin typeface="Aptos"/>
              </a:rPr>
              <a:t>Scope creep</a:t>
            </a:r>
          </a:p>
        </p:txBody>
      </p:sp>
      <p:sp>
        <p:nvSpPr>
          <p:cNvPr id="14" name="Rounded Rectangle 13"/>
          <p:cNvSpPr/>
          <p:nvPr/>
        </p:nvSpPr>
        <p:spPr>
          <a:xfrm>
            <a:off x="3218688" y="2697479"/>
            <a:ext cx="731520" cy="329184"/>
          </a:xfrm>
          <a:prstGeom prst="roundRect">
            <a:avLst>
              <a:gd name="adj" fmla="val 12000"/>
            </a:avLst>
          </a:prstGeom>
          <a:solidFill>
            <a:srgbClr val="B42318"/>
          </a:solidFill>
          <a:ln>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73552" y="2724911"/>
            <a:ext cx="621792" cy="201168"/>
          </a:xfrm>
          <a:prstGeom prst="rect">
            <a:avLst/>
          </a:prstGeom>
          <a:noFill/>
        </p:spPr>
        <p:txBody>
          <a:bodyPr wrap="square" lIns="0" rIns="0" tIns="0" bIns="0" anchor="t">
            <a:spAutoFit/>
          </a:bodyPr>
          <a:lstStyle/>
          <a:p>
            <a:pPr algn="ctr">
              <a:lnSpc>
                <a:spcPct val="100000"/>
              </a:lnSpc>
            </a:pPr>
            <a:r>
              <a:rPr sz="800" b="1">
                <a:solidFill>
                  <a:srgbClr val="FFFFFF"/>
                </a:solidFill>
                <a:latin typeface="Aptos"/>
              </a:rPr>
              <a:t>HIGH</a:t>
            </a:r>
          </a:p>
        </p:txBody>
      </p:sp>
      <p:sp>
        <p:nvSpPr>
          <p:cNvPr id="16" name="TextBox 15"/>
          <p:cNvSpPr txBox="1"/>
          <p:nvPr/>
        </p:nvSpPr>
        <p:spPr>
          <a:xfrm>
            <a:off x="4407408" y="2688336"/>
            <a:ext cx="6537960" cy="338328"/>
          </a:xfrm>
          <a:prstGeom prst="rect">
            <a:avLst/>
          </a:prstGeom>
          <a:noFill/>
        </p:spPr>
        <p:txBody>
          <a:bodyPr wrap="square" lIns="0" rIns="0" tIns="0" bIns="0" anchor="t">
            <a:spAutoFit/>
          </a:bodyPr>
          <a:lstStyle/>
          <a:p>
            <a:pPr algn="l">
              <a:lnSpc>
                <a:spcPct val="100000"/>
              </a:lnSpc>
            </a:pPr>
            <a:r>
              <a:rPr sz="1030" b="0">
                <a:solidFill>
                  <a:srgbClr val="201714"/>
                </a:solidFill>
                <a:latin typeface="Aptos"/>
              </a:rPr>
              <a:t>Feature phases; local data; simulated payment; explicit exclusions</a:t>
            </a:r>
          </a:p>
        </p:txBody>
      </p:sp>
      <p:sp>
        <p:nvSpPr>
          <p:cNvPr id="17" name="Rectangle 16"/>
          <p:cNvSpPr/>
          <p:nvPr/>
        </p:nvSpPr>
        <p:spPr>
          <a:xfrm>
            <a:off x="685800" y="3163824"/>
            <a:ext cx="10789920" cy="557784"/>
          </a:xfrm>
          <a:prstGeom prst="rect">
            <a:avLst/>
          </a:prstGeom>
          <a:solidFill>
            <a:srgbClr val="FFF3EB"/>
          </a:solidFill>
          <a:ln w="635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319272"/>
            <a:ext cx="2139696" cy="219456"/>
          </a:xfrm>
          <a:prstGeom prst="rect">
            <a:avLst/>
          </a:prstGeom>
          <a:noFill/>
        </p:spPr>
        <p:txBody>
          <a:bodyPr wrap="square" lIns="0" rIns="0" tIns="0" bIns="0" anchor="t">
            <a:spAutoFit/>
          </a:bodyPr>
          <a:lstStyle/>
          <a:p>
            <a:pPr algn="l">
              <a:lnSpc>
                <a:spcPct val="100000"/>
              </a:lnSpc>
            </a:pPr>
            <a:r>
              <a:rPr sz="1120" b="1">
                <a:solidFill>
                  <a:srgbClr val="201714"/>
                </a:solidFill>
                <a:latin typeface="Aptos"/>
              </a:rPr>
              <a:t>Order/cart inconsistency</a:t>
            </a:r>
          </a:p>
        </p:txBody>
      </p:sp>
      <p:sp>
        <p:nvSpPr>
          <p:cNvPr id="19" name="Rounded Rectangle 18"/>
          <p:cNvSpPr/>
          <p:nvPr/>
        </p:nvSpPr>
        <p:spPr>
          <a:xfrm>
            <a:off x="3218688" y="3282696"/>
            <a:ext cx="731520" cy="329184"/>
          </a:xfrm>
          <a:prstGeom prst="roundRect">
            <a:avLst>
              <a:gd name="adj" fmla="val 12000"/>
            </a:avLst>
          </a:prstGeom>
          <a:solidFill>
            <a:srgbClr val="B42318"/>
          </a:solidFill>
          <a:ln>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73552" y="3310127"/>
            <a:ext cx="621792" cy="201168"/>
          </a:xfrm>
          <a:prstGeom prst="rect">
            <a:avLst/>
          </a:prstGeom>
          <a:noFill/>
        </p:spPr>
        <p:txBody>
          <a:bodyPr wrap="square" lIns="0" rIns="0" tIns="0" bIns="0" anchor="t">
            <a:spAutoFit/>
          </a:bodyPr>
          <a:lstStyle/>
          <a:p>
            <a:pPr algn="ctr">
              <a:lnSpc>
                <a:spcPct val="100000"/>
              </a:lnSpc>
            </a:pPr>
            <a:r>
              <a:rPr sz="800" b="1">
                <a:solidFill>
                  <a:srgbClr val="FFFFFF"/>
                </a:solidFill>
                <a:latin typeface="Aptos"/>
              </a:rPr>
              <a:t>HIGH</a:t>
            </a:r>
          </a:p>
        </p:txBody>
      </p:sp>
      <p:sp>
        <p:nvSpPr>
          <p:cNvPr id="21" name="TextBox 20"/>
          <p:cNvSpPr txBox="1"/>
          <p:nvPr/>
        </p:nvSpPr>
        <p:spPr>
          <a:xfrm>
            <a:off x="4407408" y="3273552"/>
            <a:ext cx="6537960" cy="338328"/>
          </a:xfrm>
          <a:prstGeom prst="rect">
            <a:avLst/>
          </a:prstGeom>
          <a:noFill/>
        </p:spPr>
        <p:txBody>
          <a:bodyPr wrap="square" lIns="0" rIns="0" tIns="0" bIns="0" anchor="t">
            <a:spAutoFit/>
          </a:bodyPr>
          <a:lstStyle/>
          <a:p>
            <a:pPr algn="l">
              <a:lnSpc>
                <a:spcPct val="100000"/>
              </a:lnSpc>
            </a:pPr>
            <a:r>
              <a:rPr sz="1030" b="0">
                <a:solidFill>
                  <a:srgbClr val="201714"/>
                </a:solidFill>
                <a:latin typeface="Aptos"/>
              </a:rPr>
              <a:t>SQLite transaction recalculated total, inserted order, and cleared cart atomically</a:t>
            </a:r>
          </a:p>
        </p:txBody>
      </p:sp>
      <p:sp>
        <p:nvSpPr>
          <p:cNvPr id="22" name="Rectangle 21"/>
          <p:cNvSpPr/>
          <p:nvPr/>
        </p:nvSpPr>
        <p:spPr>
          <a:xfrm>
            <a:off x="685800" y="3749039"/>
            <a:ext cx="10789920" cy="557784"/>
          </a:xfrm>
          <a:prstGeom prst="rect">
            <a:avLst/>
          </a:prstGeom>
          <a:solidFill>
            <a:srgbClr val="FFFCF8"/>
          </a:solidFill>
          <a:ln w="635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3904487"/>
            <a:ext cx="2139696" cy="219456"/>
          </a:xfrm>
          <a:prstGeom prst="rect">
            <a:avLst/>
          </a:prstGeom>
          <a:noFill/>
        </p:spPr>
        <p:txBody>
          <a:bodyPr wrap="square" lIns="0" rIns="0" tIns="0" bIns="0" anchor="t">
            <a:spAutoFit/>
          </a:bodyPr>
          <a:lstStyle/>
          <a:p>
            <a:pPr algn="l">
              <a:lnSpc>
                <a:spcPct val="100000"/>
              </a:lnSpc>
            </a:pPr>
            <a:r>
              <a:rPr sz="1120" b="1">
                <a:solidFill>
                  <a:srgbClr val="201714"/>
                </a:solidFill>
                <a:latin typeface="Aptos"/>
              </a:rPr>
              <a:t>Sensitive payment data</a:t>
            </a:r>
          </a:p>
        </p:txBody>
      </p:sp>
      <p:sp>
        <p:nvSpPr>
          <p:cNvPr id="24" name="Rounded Rectangle 23"/>
          <p:cNvSpPr/>
          <p:nvPr/>
        </p:nvSpPr>
        <p:spPr>
          <a:xfrm>
            <a:off x="3218688" y="3867911"/>
            <a:ext cx="731520" cy="329184"/>
          </a:xfrm>
          <a:prstGeom prst="roundRect">
            <a:avLst>
              <a:gd name="adj" fmla="val 12000"/>
            </a:avLst>
          </a:prstGeom>
          <a:solidFill>
            <a:srgbClr val="B42318"/>
          </a:solidFill>
          <a:ln>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73552" y="3895344"/>
            <a:ext cx="621792" cy="201168"/>
          </a:xfrm>
          <a:prstGeom prst="rect">
            <a:avLst/>
          </a:prstGeom>
          <a:noFill/>
        </p:spPr>
        <p:txBody>
          <a:bodyPr wrap="square" lIns="0" rIns="0" tIns="0" bIns="0" anchor="t">
            <a:spAutoFit/>
          </a:bodyPr>
          <a:lstStyle/>
          <a:p>
            <a:pPr algn="ctr">
              <a:lnSpc>
                <a:spcPct val="100000"/>
              </a:lnSpc>
            </a:pPr>
            <a:r>
              <a:rPr sz="800" b="1">
                <a:solidFill>
                  <a:srgbClr val="FFFFFF"/>
                </a:solidFill>
                <a:latin typeface="Aptos"/>
              </a:rPr>
              <a:t>HIGH</a:t>
            </a:r>
          </a:p>
        </p:txBody>
      </p:sp>
      <p:sp>
        <p:nvSpPr>
          <p:cNvPr id="26" name="TextBox 25"/>
          <p:cNvSpPr txBox="1"/>
          <p:nvPr/>
        </p:nvSpPr>
        <p:spPr>
          <a:xfrm>
            <a:off x="4407408" y="3858768"/>
            <a:ext cx="6537960" cy="338328"/>
          </a:xfrm>
          <a:prstGeom prst="rect">
            <a:avLst/>
          </a:prstGeom>
          <a:noFill/>
        </p:spPr>
        <p:txBody>
          <a:bodyPr wrap="square" lIns="0" rIns="0" tIns="0" bIns="0" anchor="t">
            <a:spAutoFit/>
          </a:bodyPr>
          <a:lstStyle/>
          <a:p>
            <a:pPr algn="l">
              <a:lnSpc>
                <a:spcPct val="100000"/>
              </a:lnSpc>
            </a:pPr>
            <a:r>
              <a:rPr sz="1030" b="0">
                <a:solidFill>
                  <a:srgbClr val="201714"/>
                </a:solidFill>
                <a:latin typeface="Aptos"/>
              </a:rPr>
              <a:t>No gateway; no card fields persisted; clear simulation messages</a:t>
            </a:r>
          </a:p>
        </p:txBody>
      </p:sp>
      <p:sp>
        <p:nvSpPr>
          <p:cNvPr id="27" name="Rectangle 26"/>
          <p:cNvSpPr/>
          <p:nvPr/>
        </p:nvSpPr>
        <p:spPr>
          <a:xfrm>
            <a:off x="685800" y="4334255"/>
            <a:ext cx="10789920" cy="557784"/>
          </a:xfrm>
          <a:prstGeom prst="rect">
            <a:avLst/>
          </a:prstGeom>
          <a:solidFill>
            <a:srgbClr val="FFF3EB"/>
          </a:solidFill>
          <a:ln w="635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489703"/>
            <a:ext cx="2139696" cy="219456"/>
          </a:xfrm>
          <a:prstGeom prst="rect">
            <a:avLst/>
          </a:prstGeom>
          <a:noFill/>
        </p:spPr>
        <p:txBody>
          <a:bodyPr wrap="square" lIns="0" rIns="0" tIns="0" bIns="0" anchor="t">
            <a:spAutoFit/>
          </a:bodyPr>
          <a:lstStyle/>
          <a:p>
            <a:pPr algn="l">
              <a:lnSpc>
                <a:spcPct val="100000"/>
              </a:lnSpc>
            </a:pPr>
            <a:r>
              <a:rPr sz="1120" b="1">
                <a:solidFill>
                  <a:srgbClr val="201714"/>
                </a:solidFill>
                <a:latin typeface="Aptos"/>
              </a:rPr>
              <a:t>Duplicate committed actions</a:t>
            </a:r>
          </a:p>
        </p:txBody>
      </p:sp>
      <p:sp>
        <p:nvSpPr>
          <p:cNvPr id="29" name="Rounded Rectangle 28"/>
          <p:cNvSpPr/>
          <p:nvPr/>
        </p:nvSpPr>
        <p:spPr>
          <a:xfrm>
            <a:off x="3218688" y="4453127"/>
            <a:ext cx="731520" cy="329184"/>
          </a:xfrm>
          <a:prstGeom prst="roundRect">
            <a:avLst>
              <a:gd name="adj" fmla="val 12000"/>
            </a:avLst>
          </a:prstGeom>
          <a:solidFill>
            <a:srgbClr val="CC3D05"/>
          </a:solidFill>
          <a:ln>
            <a:solidFill>
              <a:srgbClr val="CC3D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73552" y="4480559"/>
            <a:ext cx="621792" cy="201168"/>
          </a:xfrm>
          <a:prstGeom prst="rect">
            <a:avLst/>
          </a:prstGeom>
          <a:noFill/>
        </p:spPr>
        <p:txBody>
          <a:bodyPr wrap="square" lIns="0" rIns="0" tIns="0" bIns="0" anchor="t">
            <a:spAutoFit/>
          </a:bodyPr>
          <a:lstStyle/>
          <a:p>
            <a:pPr algn="ctr">
              <a:lnSpc>
                <a:spcPct val="100000"/>
              </a:lnSpc>
            </a:pPr>
            <a:r>
              <a:rPr sz="800" b="1">
                <a:solidFill>
                  <a:srgbClr val="FFFFFF"/>
                </a:solidFill>
                <a:latin typeface="Aptos"/>
              </a:rPr>
              <a:t>MEDIUM</a:t>
            </a:r>
          </a:p>
        </p:txBody>
      </p:sp>
      <p:sp>
        <p:nvSpPr>
          <p:cNvPr id="31" name="TextBox 30"/>
          <p:cNvSpPr txBox="1"/>
          <p:nvPr/>
        </p:nvSpPr>
        <p:spPr>
          <a:xfrm>
            <a:off x="4407408" y="4443983"/>
            <a:ext cx="6537960" cy="338328"/>
          </a:xfrm>
          <a:prstGeom prst="rect">
            <a:avLst/>
          </a:prstGeom>
          <a:noFill/>
        </p:spPr>
        <p:txBody>
          <a:bodyPr wrap="square" lIns="0" rIns="0" tIns="0" bIns="0" anchor="t">
            <a:spAutoFit/>
          </a:bodyPr>
          <a:lstStyle/>
          <a:p>
            <a:pPr algn="l">
              <a:lnSpc>
                <a:spcPct val="100000"/>
              </a:lnSpc>
            </a:pPr>
            <a:r>
              <a:rPr sz="1030" b="0">
                <a:solidFill>
                  <a:srgbClr val="201714"/>
                </a:solidFill>
                <a:latin typeface="Aptos"/>
              </a:rPr>
              <a:t>Provider resilience prevented retry after a successful mutation and failed refresh</a:t>
            </a:r>
          </a:p>
        </p:txBody>
      </p:sp>
      <p:sp>
        <p:nvSpPr>
          <p:cNvPr id="32" name="Rectangle 31"/>
          <p:cNvSpPr/>
          <p:nvPr/>
        </p:nvSpPr>
        <p:spPr>
          <a:xfrm>
            <a:off x="685800" y="4919471"/>
            <a:ext cx="10789920" cy="557784"/>
          </a:xfrm>
          <a:prstGeom prst="rect">
            <a:avLst/>
          </a:prstGeom>
          <a:solidFill>
            <a:srgbClr val="FFFCF8"/>
          </a:solidFill>
          <a:ln w="635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074919"/>
            <a:ext cx="2139696" cy="219456"/>
          </a:xfrm>
          <a:prstGeom prst="rect">
            <a:avLst/>
          </a:prstGeom>
          <a:noFill/>
        </p:spPr>
        <p:txBody>
          <a:bodyPr wrap="square" lIns="0" rIns="0" tIns="0" bIns="0" anchor="t">
            <a:spAutoFit/>
          </a:bodyPr>
          <a:lstStyle/>
          <a:p>
            <a:pPr algn="l">
              <a:lnSpc>
                <a:spcPct val="100000"/>
              </a:lnSpc>
            </a:pPr>
            <a:r>
              <a:rPr sz="1120" b="1">
                <a:solidFill>
                  <a:srgbClr val="201714"/>
                </a:solidFill>
                <a:latin typeface="Aptos"/>
              </a:rPr>
              <a:t>Network image failure</a:t>
            </a:r>
          </a:p>
        </p:txBody>
      </p:sp>
      <p:sp>
        <p:nvSpPr>
          <p:cNvPr id="34" name="Rounded Rectangle 33"/>
          <p:cNvSpPr/>
          <p:nvPr/>
        </p:nvSpPr>
        <p:spPr>
          <a:xfrm>
            <a:off x="3218688" y="5038343"/>
            <a:ext cx="731520" cy="329184"/>
          </a:xfrm>
          <a:prstGeom prst="roundRect">
            <a:avLst>
              <a:gd name="adj" fmla="val 12000"/>
            </a:avLst>
          </a:prstGeom>
          <a:solidFill>
            <a:srgbClr val="CC3D05"/>
          </a:solidFill>
          <a:ln>
            <a:solidFill>
              <a:srgbClr val="CC3D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73552" y="5065775"/>
            <a:ext cx="621792" cy="201168"/>
          </a:xfrm>
          <a:prstGeom prst="rect">
            <a:avLst/>
          </a:prstGeom>
          <a:noFill/>
        </p:spPr>
        <p:txBody>
          <a:bodyPr wrap="square" lIns="0" rIns="0" tIns="0" bIns="0" anchor="t">
            <a:spAutoFit/>
          </a:bodyPr>
          <a:lstStyle/>
          <a:p>
            <a:pPr algn="ctr">
              <a:lnSpc>
                <a:spcPct val="100000"/>
              </a:lnSpc>
            </a:pPr>
            <a:r>
              <a:rPr sz="800" b="1">
                <a:solidFill>
                  <a:srgbClr val="FFFFFF"/>
                </a:solidFill>
                <a:latin typeface="Aptos"/>
              </a:rPr>
              <a:t>MEDIUM</a:t>
            </a:r>
          </a:p>
        </p:txBody>
      </p:sp>
      <p:sp>
        <p:nvSpPr>
          <p:cNvPr id="36" name="TextBox 35"/>
          <p:cNvSpPr txBox="1"/>
          <p:nvPr/>
        </p:nvSpPr>
        <p:spPr>
          <a:xfrm>
            <a:off x="4407408" y="5029199"/>
            <a:ext cx="6537960" cy="338328"/>
          </a:xfrm>
          <a:prstGeom prst="rect">
            <a:avLst/>
          </a:prstGeom>
          <a:noFill/>
        </p:spPr>
        <p:txBody>
          <a:bodyPr wrap="square" lIns="0" rIns="0" tIns="0" bIns="0" anchor="t">
            <a:spAutoFit/>
          </a:bodyPr>
          <a:lstStyle/>
          <a:p>
            <a:pPr algn="l">
              <a:lnSpc>
                <a:spcPct val="100000"/>
              </a:lnSpc>
            </a:pPr>
            <a:r>
              <a:rPr sz="1030" b="0">
                <a:solidFill>
                  <a:srgbClr val="201714"/>
                </a:solidFill>
                <a:latin typeface="Aptos"/>
              </a:rPr>
              <a:t>ProductImage displayed a branded placeholder on error</a:t>
            </a:r>
          </a:p>
        </p:txBody>
      </p:sp>
      <p:sp>
        <p:nvSpPr>
          <p:cNvPr id="37" name="Rectangle 36"/>
          <p:cNvSpPr/>
          <p:nvPr/>
        </p:nvSpPr>
        <p:spPr>
          <a:xfrm>
            <a:off x="685800" y="5504687"/>
            <a:ext cx="10789920" cy="557784"/>
          </a:xfrm>
          <a:prstGeom prst="rect">
            <a:avLst/>
          </a:prstGeom>
          <a:solidFill>
            <a:srgbClr val="FFF3EB"/>
          </a:solidFill>
          <a:ln w="635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2688" y="5660135"/>
            <a:ext cx="2139696" cy="219456"/>
          </a:xfrm>
          <a:prstGeom prst="rect">
            <a:avLst/>
          </a:prstGeom>
          <a:noFill/>
        </p:spPr>
        <p:txBody>
          <a:bodyPr wrap="square" lIns="0" rIns="0" tIns="0" bIns="0" anchor="t">
            <a:spAutoFit/>
          </a:bodyPr>
          <a:lstStyle/>
          <a:p>
            <a:pPr algn="l">
              <a:lnSpc>
                <a:spcPct val="100000"/>
              </a:lnSpc>
            </a:pPr>
            <a:r>
              <a:rPr sz="1120" b="1">
                <a:solidFill>
                  <a:srgbClr val="201714"/>
                </a:solidFill>
                <a:latin typeface="Aptos"/>
              </a:rPr>
              <a:t>Small/large screens</a:t>
            </a:r>
          </a:p>
        </p:txBody>
      </p:sp>
      <p:sp>
        <p:nvSpPr>
          <p:cNvPr id="39" name="Rounded Rectangle 38"/>
          <p:cNvSpPr/>
          <p:nvPr/>
        </p:nvSpPr>
        <p:spPr>
          <a:xfrm>
            <a:off x="3218688" y="5623559"/>
            <a:ext cx="731520" cy="329184"/>
          </a:xfrm>
          <a:prstGeom prst="roundRect">
            <a:avLst>
              <a:gd name="adj" fmla="val 12000"/>
            </a:avLst>
          </a:prstGeom>
          <a:solidFill>
            <a:srgbClr val="CC3D05"/>
          </a:solidFill>
          <a:ln>
            <a:solidFill>
              <a:srgbClr val="CC3D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73552" y="5650991"/>
            <a:ext cx="621792" cy="201168"/>
          </a:xfrm>
          <a:prstGeom prst="rect">
            <a:avLst/>
          </a:prstGeom>
          <a:noFill/>
        </p:spPr>
        <p:txBody>
          <a:bodyPr wrap="square" lIns="0" rIns="0" tIns="0" bIns="0" anchor="t">
            <a:spAutoFit/>
          </a:bodyPr>
          <a:lstStyle/>
          <a:p>
            <a:pPr algn="ctr">
              <a:lnSpc>
                <a:spcPct val="100000"/>
              </a:lnSpc>
            </a:pPr>
            <a:r>
              <a:rPr sz="800" b="1">
                <a:solidFill>
                  <a:srgbClr val="FFFFFF"/>
                </a:solidFill>
                <a:latin typeface="Aptos"/>
              </a:rPr>
              <a:t>MEDIUM</a:t>
            </a:r>
          </a:p>
        </p:txBody>
      </p:sp>
      <p:sp>
        <p:nvSpPr>
          <p:cNvPr id="41" name="TextBox 40"/>
          <p:cNvSpPr txBox="1"/>
          <p:nvPr/>
        </p:nvSpPr>
        <p:spPr>
          <a:xfrm>
            <a:off x="4407408" y="5614415"/>
            <a:ext cx="6537960" cy="338328"/>
          </a:xfrm>
          <a:prstGeom prst="rect">
            <a:avLst/>
          </a:prstGeom>
          <a:noFill/>
        </p:spPr>
        <p:txBody>
          <a:bodyPr wrap="square" lIns="0" rIns="0" tIns="0" bIns="0" anchor="t">
            <a:spAutoFit/>
          </a:bodyPr>
          <a:lstStyle/>
          <a:p>
            <a:pPr algn="l">
              <a:lnSpc>
                <a:spcPct val="100000"/>
              </a:lnSpc>
            </a:pPr>
            <a:r>
              <a:rPr sz="1030" b="0">
                <a:solidFill>
                  <a:srgbClr val="201714"/>
                </a:solidFill>
                <a:latin typeface="Aptos"/>
              </a:rPr>
              <a:t>LayoutBuilder, responsive grids, semantics, large-text and landscape tests</a:t>
            </a:r>
          </a:p>
        </p:txBody>
      </p:sp>
      <p:sp>
        <p:nvSpPr>
          <p:cNvPr id="42" name="Rounded Rectangle 41"/>
          <p:cNvSpPr/>
          <p:nvPr/>
        </p:nvSpPr>
        <p:spPr>
          <a:xfrm>
            <a:off x="685800" y="6153912"/>
            <a:ext cx="10789920" cy="274320"/>
          </a:xfrm>
          <a:prstGeom prst="roundRect">
            <a:avLst>
              <a:gd name="adj" fmla="val 12000"/>
            </a:avLst>
          </a:prstGeom>
          <a:solidFill>
            <a:srgbClr val="E4F1E9"/>
          </a:solidFill>
          <a:ln>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6199632"/>
            <a:ext cx="10287000" cy="146304"/>
          </a:xfrm>
          <a:prstGeom prst="rect">
            <a:avLst/>
          </a:prstGeom>
          <a:noFill/>
        </p:spPr>
        <p:txBody>
          <a:bodyPr wrap="square" lIns="0" rIns="0" tIns="0" bIns="0" anchor="t">
            <a:spAutoFit/>
          </a:bodyPr>
          <a:lstStyle/>
          <a:p>
            <a:pPr algn="ctr">
              <a:lnSpc>
                <a:spcPct val="100000"/>
              </a:lnSpc>
            </a:pPr>
            <a:r>
              <a:rPr sz="850" b="1">
                <a:solidFill>
                  <a:srgbClr val="218653"/>
                </a:solidFill>
                <a:latin typeface="Aptos"/>
              </a:rPr>
              <a:t>Risk treatment was visible in architecture, UI messages, database rules, and automated tests.</a:t>
            </a:r>
          </a:p>
        </p:txBody>
      </p:sp>
      <p:sp>
        <p:nvSpPr>
          <p:cNvPr id="44" name="TextBox 43"/>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INDIVIDUAL CONTRIBUTION</a:t>
            </a:r>
          </a:p>
        </p:txBody>
      </p:sp>
      <p:sp>
        <p:nvSpPr>
          <p:cNvPr id="45" name="TextBox 44"/>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542819"/>
        </a:solidFill>
        <a:effectLst/>
      </p:bgPr>
    </p:bg>
    <p:spTree>
      <p:nvGrpSpPr>
        <p:cNvPr id="1" name=""/>
        <p:cNvGrpSpPr/>
        <p:nvPr/>
      </p:nvGrpSpPr>
      <p:grpSpPr/>
      <p:sp>
        <p:nvSpPr>
          <p:cNvPr id="2" name="TextBox 1"/>
          <p:cNvSpPr txBox="1"/>
          <p:nvPr/>
        </p:nvSpPr>
        <p:spPr>
          <a:xfrm>
            <a:off x="731520" y="658368"/>
            <a:ext cx="2926080" cy="274320"/>
          </a:xfrm>
          <a:prstGeom prst="rect">
            <a:avLst/>
          </a:prstGeom>
          <a:noFill/>
        </p:spPr>
        <p:txBody>
          <a:bodyPr wrap="square" lIns="0" rIns="0" tIns="0" bIns="0" anchor="t">
            <a:spAutoFit/>
          </a:bodyPr>
          <a:lstStyle/>
          <a:p>
            <a:pPr algn="l">
              <a:lnSpc>
                <a:spcPct val="100000"/>
              </a:lnSpc>
            </a:pPr>
            <a:r>
              <a:rPr sz="1100" b="1">
                <a:solidFill>
                  <a:srgbClr val="F4C5AD"/>
                </a:solidFill>
                <a:latin typeface="Aptos"/>
              </a:rPr>
              <a:t>VALIDATED OUTCOME</a:t>
            </a:r>
          </a:p>
        </p:txBody>
      </p:sp>
      <p:sp>
        <p:nvSpPr>
          <p:cNvPr id="3" name="TextBox 2"/>
          <p:cNvSpPr txBox="1"/>
          <p:nvPr/>
        </p:nvSpPr>
        <p:spPr>
          <a:xfrm>
            <a:off x="731520" y="1115568"/>
            <a:ext cx="6492240" cy="960120"/>
          </a:xfrm>
          <a:prstGeom prst="rect">
            <a:avLst/>
          </a:prstGeom>
          <a:noFill/>
        </p:spPr>
        <p:txBody>
          <a:bodyPr wrap="square" lIns="0" rIns="0" tIns="0" bIns="0" anchor="t">
            <a:spAutoFit/>
          </a:bodyPr>
          <a:lstStyle/>
          <a:p>
            <a:pPr algn="l">
              <a:lnSpc>
                <a:spcPct val="100000"/>
              </a:lnSpc>
            </a:pPr>
            <a:r>
              <a:rPr sz="3100" b="1">
                <a:solidFill>
                  <a:srgbClr val="FFFFFF"/>
                </a:solidFill>
                <a:latin typeface="Aptos Display"/>
              </a:rPr>
              <a:t>A complete, explainable Android ordering journey</a:t>
            </a:r>
          </a:p>
        </p:txBody>
      </p:sp>
      <p:sp>
        <p:nvSpPr>
          <p:cNvPr id="4" name="TextBox 3"/>
          <p:cNvSpPr txBox="1"/>
          <p:nvPr/>
        </p:nvSpPr>
        <p:spPr>
          <a:xfrm>
            <a:off x="749808" y="2304288"/>
            <a:ext cx="6217920" cy="548640"/>
          </a:xfrm>
          <a:prstGeom prst="rect">
            <a:avLst/>
          </a:prstGeom>
          <a:noFill/>
        </p:spPr>
        <p:txBody>
          <a:bodyPr wrap="square" lIns="0" rIns="0" tIns="0" bIns="0" anchor="t">
            <a:spAutoFit/>
          </a:bodyPr>
          <a:lstStyle/>
          <a:p>
            <a:pPr algn="l">
              <a:lnSpc>
                <a:spcPct val="100000"/>
              </a:lnSpc>
            </a:pPr>
            <a:r>
              <a:rPr sz="1500" b="0">
                <a:solidFill>
                  <a:srgbClr val="F7DCCD"/>
                </a:solidFill>
                <a:latin typeface="Aptos"/>
              </a:rPr>
              <a:t>The solution met its coursework objectives while clearly stating its production boundaries.</a:t>
            </a:r>
          </a:p>
        </p:txBody>
      </p:sp>
      <p:sp>
        <p:nvSpPr>
          <p:cNvPr id="5" name="Rounded Rectangle 4"/>
          <p:cNvSpPr/>
          <p:nvPr/>
        </p:nvSpPr>
        <p:spPr>
          <a:xfrm>
            <a:off x="749808" y="3227832"/>
            <a:ext cx="1901952" cy="1444752"/>
          </a:xfrm>
          <a:prstGeom prst="roundRect">
            <a:avLst>
              <a:gd name="adj" fmla="val 12000"/>
            </a:avLst>
          </a:prstGeom>
          <a:solidFill>
            <a:srgbClr val="CC3D05"/>
          </a:solidFill>
          <a:ln w="12700">
            <a:solidFill>
              <a:srgbClr val="CC3D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3429000"/>
            <a:ext cx="1517904" cy="548640"/>
          </a:xfrm>
          <a:prstGeom prst="rect">
            <a:avLst/>
          </a:prstGeom>
          <a:noFill/>
        </p:spPr>
        <p:txBody>
          <a:bodyPr wrap="square" lIns="0" rIns="0" tIns="0" bIns="0" anchor="t">
            <a:spAutoFit/>
          </a:bodyPr>
          <a:lstStyle/>
          <a:p>
            <a:pPr algn="ctr">
              <a:lnSpc>
                <a:spcPct val="100000"/>
              </a:lnSpc>
            </a:pPr>
            <a:r>
              <a:rPr sz="3200" b="1">
                <a:solidFill>
                  <a:srgbClr val="FFFFFF"/>
                </a:solidFill>
                <a:latin typeface="Aptos"/>
              </a:rPr>
              <a:t>42</a:t>
            </a:r>
          </a:p>
        </p:txBody>
      </p:sp>
      <p:sp>
        <p:nvSpPr>
          <p:cNvPr id="7" name="TextBox 6"/>
          <p:cNvSpPr txBox="1"/>
          <p:nvPr/>
        </p:nvSpPr>
        <p:spPr>
          <a:xfrm>
            <a:off x="941832" y="4069080"/>
            <a:ext cx="1517904" cy="228600"/>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tests passed</a:t>
            </a:r>
          </a:p>
        </p:txBody>
      </p:sp>
      <p:sp>
        <p:nvSpPr>
          <p:cNvPr id="8" name="Rounded Rectangle 7"/>
          <p:cNvSpPr/>
          <p:nvPr/>
        </p:nvSpPr>
        <p:spPr>
          <a:xfrm>
            <a:off x="2880360" y="3227832"/>
            <a:ext cx="1901952" cy="1444752"/>
          </a:xfrm>
          <a:prstGeom prst="roundRect">
            <a:avLst>
              <a:gd name="adj" fmla="val 12000"/>
            </a:avLst>
          </a:prstGeom>
          <a:solidFill>
            <a:srgbClr val="FFF8F1"/>
          </a:solidFill>
          <a:ln w="12700">
            <a:solidFill>
              <a:srgbClr val="FF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72384" y="3429000"/>
            <a:ext cx="1517904" cy="548640"/>
          </a:xfrm>
          <a:prstGeom prst="rect">
            <a:avLst/>
          </a:prstGeom>
          <a:noFill/>
        </p:spPr>
        <p:txBody>
          <a:bodyPr wrap="square" lIns="0" rIns="0" tIns="0" bIns="0" anchor="t">
            <a:spAutoFit/>
          </a:bodyPr>
          <a:lstStyle/>
          <a:p>
            <a:pPr algn="ctr">
              <a:lnSpc>
                <a:spcPct val="100000"/>
              </a:lnSpc>
            </a:pPr>
            <a:r>
              <a:rPr sz="3200" b="1">
                <a:solidFill>
                  <a:srgbClr val="542819"/>
                </a:solidFill>
                <a:latin typeface="Aptos"/>
              </a:rPr>
              <a:t>0</a:t>
            </a:r>
          </a:p>
        </p:txBody>
      </p:sp>
      <p:sp>
        <p:nvSpPr>
          <p:cNvPr id="10" name="TextBox 9"/>
          <p:cNvSpPr txBox="1"/>
          <p:nvPr/>
        </p:nvSpPr>
        <p:spPr>
          <a:xfrm>
            <a:off x="3072384" y="4069080"/>
            <a:ext cx="1517904" cy="228600"/>
          </a:xfrm>
          <a:prstGeom prst="rect">
            <a:avLst/>
          </a:prstGeom>
          <a:noFill/>
        </p:spPr>
        <p:txBody>
          <a:bodyPr wrap="square" lIns="0" rIns="0" tIns="0" bIns="0" anchor="t">
            <a:spAutoFit/>
          </a:bodyPr>
          <a:lstStyle/>
          <a:p>
            <a:pPr algn="ctr">
              <a:lnSpc>
                <a:spcPct val="100000"/>
              </a:lnSpc>
            </a:pPr>
            <a:r>
              <a:rPr sz="1100" b="1">
                <a:solidFill>
                  <a:srgbClr val="542819"/>
                </a:solidFill>
                <a:latin typeface="Aptos"/>
              </a:rPr>
              <a:t>analyzer issues</a:t>
            </a:r>
          </a:p>
        </p:txBody>
      </p:sp>
      <p:sp>
        <p:nvSpPr>
          <p:cNvPr id="11" name="Rounded Rectangle 10"/>
          <p:cNvSpPr/>
          <p:nvPr/>
        </p:nvSpPr>
        <p:spPr>
          <a:xfrm>
            <a:off x="5010912" y="3227832"/>
            <a:ext cx="1901952" cy="1444752"/>
          </a:xfrm>
          <a:prstGeom prst="roundRect">
            <a:avLst>
              <a:gd name="adj" fmla="val 12000"/>
            </a:avLst>
          </a:prstGeom>
          <a:solidFill>
            <a:srgbClr val="E4F1E9"/>
          </a:solidFill>
          <a:ln w="12700">
            <a:solidFill>
              <a:srgbClr val="E4F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3429000"/>
            <a:ext cx="1517904" cy="548640"/>
          </a:xfrm>
          <a:prstGeom prst="rect">
            <a:avLst/>
          </a:prstGeom>
          <a:noFill/>
        </p:spPr>
        <p:txBody>
          <a:bodyPr wrap="square" lIns="0" rIns="0" tIns="0" bIns="0" anchor="t">
            <a:spAutoFit/>
          </a:bodyPr>
          <a:lstStyle/>
          <a:p>
            <a:pPr algn="ctr">
              <a:lnSpc>
                <a:spcPct val="100000"/>
              </a:lnSpc>
            </a:pPr>
            <a:r>
              <a:rPr sz="3200" b="1">
                <a:solidFill>
                  <a:srgbClr val="218653"/>
                </a:solidFill>
                <a:latin typeface="Aptos"/>
              </a:rPr>
              <a:t>1</a:t>
            </a:r>
          </a:p>
        </p:txBody>
      </p:sp>
      <p:sp>
        <p:nvSpPr>
          <p:cNvPr id="13" name="TextBox 12"/>
          <p:cNvSpPr txBox="1"/>
          <p:nvPr/>
        </p:nvSpPr>
        <p:spPr>
          <a:xfrm>
            <a:off x="5166360" y="4023360"/>
            <a:ext cx="1591056" cy="384048"/>
          </a:xfrm>
          <a:prstGeom prst="rect">
            <a:avLst/>
          </a:prstGeom>
          <a:noFill/>
        </p:spPr>
        <p:txBody>
          <a:bodyPr wrap="square" lIns="0" rIns="0" tIns="0" bIns="0" anchor="t">
            <a:spAutoFit/>
          </a:bodyPr>
          <a:lstStyle/>
          <a:p>
            <a:pPr algn="ctr">
              <a:lnSpc>
                <a:spcPct val="100000"/>
              </a:lnSpc>
            </a:pPr>
            <a:r>
              <a:rPr sz="1050" b="1">
                <a:solidFill>
                  <a:srgbClr val="218653"/>
                </a:solidFill>
                <a:latin typeface="Aptos"/>
              </a:rPr>
              <a:t>Android walkthrough</a:t>
            </a:r>
          </a:p>
        </p:txBody>
      </p:sp>
      <p:sp>
        <p:nvSpPr>
          <p:cNvPr id="14" name="Rounded Rectangle 13"/>
          <p:cNvSpPr/>
          <p:nvPr/>
        </p:nvSpPr>
        <p:spPr>
          <a:xfrm>
            <a:off x="7452360" y="566928"/>
            <a:ext cx="4069080" cy="5724144"/>
          </a:xfrm>
          <a:prstGeom prst="roundRect">
            <a:avLst>
              <a:gd name="adj" fmla="val 12000"/>
            </a:avLst>
          </a:prstGeom>
          <a:solidFill>
            <a:srgbClr val="FFF8F1"/>
          </a:solidFill>
          <a:ln w="12700">
            <a:solidFill>
              <a:srgbClr val="FF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llis_cafe_logo.png"/>
          <p:cNvPicPr>
            <a:picLocks noChangeAspect="1"/>
          </p:cNvPicPr>
          <p:nvPr/>
        </p:nvPicPr>
        <p:blipFill>
          <a:blip r:embed="rId2"/>
          <a:stretch>
            <a:fillRect/>
          </a:stretch>
        </p:blipFill>
        <p:spPr>
          <a:xfrm>
            <a:off x="8613648" y="914400"/>
            <a:ext cx="1737360" cy="1737360"/>
          </a:xfrm>
          <a:prstGeom prst="rect">
            <a:avLst/>
          </a:prstGeom>
        </p:spPr>
      </p:pic>
      <p:sp>
        <p:nvSpPr>
          <p:cNvPr id="16" name="TextBox 15"/>
          <p:cNvSpPr txBox="1"/>
          <p:nvPr/>
        </p:nvSpPr>
        <p:spPr>
          <a:xfrm>
            <a:off x="8001000" y="2999232"/>
            <a:ext cx="2971800" cy="438912"/>
          </a:xfrm>
          <a:prstGeom prst="rect">
            <a:avLst/>
          </a:prstGeom>
          <a:noFill/>
        </p:spPr>
        <p:txBody>
          <a:bodyPr wrap="square" lIns="0" rIns="0" tIns="0" bIns="0" anchor="t">
            <a:spAutoFit/>
          </a:bodyPr>
          <a:lstStyle/>
          <a:p>
            <a:pPr algn="ctr">
              <a:lnSpc>
                <a:spcPct val="100000"/>
              </a:lnSpc>
            </a:pPr>
            <a:r>
              <a:rPr sz="2600" b="1">
                <a:solidFill>
                  <a:srgbClr val="542819"/>
                </a:solidFill>
                <a:latin typeface="Aptos"/>
              </a:rPr>
              <a:t>Thank you</a:t>
            </a:r>
          </a:p>
        </p:txBody>
      </p:sp>
      <p:sp>
        <p:nvSpPr>
          <p:cNvPr id="17" name="TextBox 16"/>
          <p:cNvSpPr txBox="1"/>
          <p:nvPr/>
        </p:nvSpPr>
        <p:spPr>
          <a:xfrm>
            <a:off x="7973568" y="3685032"/>
            <a:ext cx="3035808" cy="530352"/>
          </a:xfrm>
          <a:prstGeom prst="rect">
            <a:avLst/>
          </a:prstGeom>
          <a:noFill/>
        </p:spPr>
        <p:txBody>
          <a:bodyPr wrap="square" lIns="0" rIns="0" tIns="0" bIns="0" anchor="t">
            <a:spAutoFit/>
          </a:bodyPr>
          <a:lstStyle/>
          <a:p>
            <a:pPr algn="ctr">
              <a:lnSpc>
                <a:spcPct val="100000"/>
              </a:lnSpc>
            </a:pPr>
            <a:r>
              <a:rPr sz="1300" b="0">
                <a:solidFill>
                  <a:srgbClr val="71635D"/>
                </a:solidFill>
                <a:latin typeface="Aptos"/>
              </a:rPr>
              <a:t>Questions and demonstration follow-up</a:t>
            </a:r>
          </a:p>
        </p:txBody>
      </p:sp>
      <p:sp>
        <p:nvSpPr>
          <p:cNvPr id="18" name="Rounded Rectangle 17"/>
          <p:cNvSpPr/>
          <p:nvPr/>
        </p:nvSpPr>
        <p:spPr>
          <a:xfrm>
            <a:off x="8476488" y="4873752"/>
            <a:ext cx="2029968" cy="329184"/>
          </a:xfrm>
          <a:prstGeom prst="roundRect">
            <a:avLst>
              <a:gd name="adj" fmla="val 12000"/>
            </a:avLst>
          </a:prstGeom>
          <a:solidFill>
            <a:srgbClr val="FCE1D0"/>
          </a:solidFill>
          <a:ln>
            <a:solidFill>
              <a:srgbClr val="FCE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4901184"/>
            <a:ext cx="1920240" cy="201168"/>
          </a:xfrm>
          <a:prstGeom prst="rect">
            <a:avLst/>
          </a:prstGeom>
          <a:noFill/>
        </p:spPr>
        <p:txBody>
          <a:bodyPr wrap="square" lIns="0" rIns="0" tIns="0" bIns="0" anchor="t">
            <a:spAutoFit/>
          </a:bodyPr>
          <a:lstStyle/>
          <a:p>
            <a:pPr algn="ctr">
              <a:lnSpc>
                <a:spcPct val="100000"/>
              </a:lnSpc>
            </a:pPr>
            <a:r>
              <a:rPr sz="1000" b="1">
                <a:solidFill>
                  <a:srgbClr val="CC3D05"/>
                </a:solidFill>
                <a:latin typeface="Aptos"/>
              </a:rPr>
              <a:t>VILLI’S CAFE</a:t>
            </a:r>
          </a:p>
        </p:txBody>
      </p:sp>
      <p:sp>
        <p:nvSpPr>
          <p:cNvPr id="20" name="TextBox 19"/>
          <p:cNvSpPr txBox="1"/>
          <p:nvPr/>
        </p:nvSpPr>
        <p:spPr>
          <a:xfrm>
            <a:off x="8065008" y="5623560"/>
            <a:ext cx="2834640" cy="228600"/>
          </a:xfrm>
          <a:prstGeom prst="rect">
            <a:avLst/>
          </a:prstGeom>
          <a:noFill/>
        </p:spPr>
        <p:txBody>
          <a:bodyPr wrap="square" lIns="0" rIns="0" tIns="0" bIns="0" anchor="t">
            <a:spAutoFit/>
          </a:bodyPr>
          <a:lstStyle/>
          <a:p>
            <a:pPr algn="ctr">
              <a:lnSpc>
                <a:spcPct val="100000"/>
              </a:lnSpc>
            </a:pPr>
            <a:r>
              <a:rPr sz="950" b="0">
                <a:solidFill>
                  <a:srgbClr val="71635D"/>
                </a:solidFill>
                <a:latin typeface="Aptos"/>
              </a:rPr>
              <a:t>Presenter: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DO NOT PRESENT UNLESS NEEDED</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Backup — demo recovery route</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Use these prepared captures if the emulator or network image loading fails.</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314432" y="393192"/>
            <a:ext cx="1170432" cy="329184"/>
          </a:xfrm>
          <a:prstGeom prst="roundRect">
            <a:avLst>
              <a:gd name="adj" fmla="val 12000"/>
            </a:avLst>
          </a:prstGeom>
          <a:solidFill>
            <a:srgbClr val="B42318"/>
          </a:solidFill>
          <a:ln>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69296" y="420623"/>
            <a:ext cx="1060704" cy="201168"/>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BACKUP</a:t>
            </a:r>
          </a:p>
        </p:txBody>
      </p:sp>
      <p:sp>
        <p:nvSpPr>
          <p:cNvPr id="8" name="Rounded Rectangle 7"/>
          <p:cNvSpPr/>
          <p:nvPr/>
        </p:nvSpPr>
        <p:spPr>
          <a:xfrm>
            <a:off x="667512" y="2002536"/>
            <a:ext cx="1748789" cy="368503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9_customer_home.png"/>
          <p:cNvPicPr>
            <a:picLocks noChangeAspect="1"/>
          </p:cNvPicPr>
          <p:nvPr/>
        </p:nvPicPr>
        <p:blipFill>
          <a:blip r:embed="rId2"/>
          <a:stretch>
            <a:fillRect/>
          </a:stretch>
        </p:blipFill>
        <p:spPr>
          <a:xfrm>
            <a:off x="749808" y="2084832"/>
            <a:ext cx="1584198" cy="3520439"/>
          </a:xfrm>
          <a:prstGeom prst="rect">
            <a:avLst/>
          </a:prstGeom>
        </p:spPr>
      </p:pic>
      <p:sp>
        <p:nvSpPr>
          <p:cNvPr id="10" name="TextBox 9"/>
          <p:cNvSpPr txBox="1"/>
          <p:nvPr/>
        </p:nvSpPr>
        <p:spPr>
          <a:xfrm>
            <a:off x="704087" y="5705856"/>
            <a:ext cx="167563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HOME</a:t>
            </a:r>
          </a:p>
        </p:txBody>
      </p:sp>
      <p:sp>
        <p:nvSpPr>
          <p:cNvPr id="11" name="Rounded Rectangle 10"/>
          <p:cNvSpPr/>
          <p:nvPr/>
        </p:nvSpPr>
        <p:spPr>
          <a:xfrm>
            <a:off x="2569464" y="2002536"/>
            <a:ext cx="1748789" cy="368503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0_menu.png"/>
          <p:cNvPicPr>
            <a:picLocks noChangeAspect="1"/>
          </p:cNvPicPr>
          <p:nvPr/>
        </p:nvPicPr>
        <p:blipFill>
          <a:blip r:embed="rId3"/>
          <a:stretch>
            <a:fillRect/>
          </a:stretch>
        </p:blipFill>
        <p:spPr>
          <a:xfrm>
            <a:off x="2651760" y="2084832"/>
            <a:ext cx="1584198" cy="3520439"/>
          </a:xfrm>
          <a:prstGeom prst="rect">
            <a:avLst/>
          </a:prstGeom>
        </p:spPr>
      </p:pic>
      <p:sp>
        <p:nvSpPr>
          <p:cNvPr id="13" name="TextBox 12"/>
          <p:cNvSpPr txBox="1"/>
          <p:nvPr/>
        </p:nvSpPr>
        <p:spPr>
          <a:xfrm>
            <a:off x="2606040" y="5705856"/>
            <a:ext cx="167563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MENU</a:t>
            </a:r>
          </a:p>
        </p:txBody>
      </p:sp>
      <p:sp>
        <p:nvSpPr>
          <p:cNvPr id="14" name="Rounded Rectangle 13"/>
          <p:cNvSpPr/>
          <p:nvPr/>
        </p:nvSpPr>
        <p:spPr>
          <a:xfrm>
            <a:off x="4471416" y="2002536"/>
            <a:ext cx="1748789" cy="368503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11_product_details.png"/>
          <p:cNvPicPr>
            <a:picLocks noChangeAspect="1"/>
          </p:cNvPicPr>
          <p:nvPr/>
        </p:nvPicPr>
        <p:blipFill>
          <a:blip r:embed="rId4"/>
          <a:stretch>
            <a:fillRect/>
          </a:stretch>
        </p:blipFill>
        <p:spPr>
          <a:xfrm>
            <a:off x="4553712" y="2084832"/>
            <a:ext cx="1584198" cy="3520439"/>
          </a:xfrm>
          <a:prstGeom prst="rect">
            <a:avLst/>
          </a:prstGeom>
        </p:spPr>
      </p:pic>
      <p:sp>
        <p:nvSpPr>
          <p:cNvPr id="16" name="TextBox 15"/>
          <p:cNvSpPr txBox="1"/>
          <p:nvPr/>
        </p:nvSpPr>
        <p:spPr>
          <a:xfrm>
            <a:off x="4507992" y="5705856"/>
            <a:ext cx="167563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DETAILS</a:t>
            </a:r>
          </a:p>
        </p:txBody>
      </p:sp>
      <p:sp>
        <p:nvSpPr>
          <p:cNvPr id="17" name="Rounded Rectangle 16"/>
          <p:cNvSpPr/>
          <p:nvPr/>
        </p:nvSpPr>
        <p:spPr>
          <a:xfrm>
            <a:off x="6373368" y="2002536"/>
            <a:ext cx="1748789" cy="368503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14_checkout_summary.png"/>
          <p:cNvPicPr>
            <a:picLocks noChangeAspect="1"/>
          </p:cNvPicPr>
          <p:nvPr/>
        </p:nvPicPr>
        <p:blipFill>
          <a:blip r:embed="rId5"/>
          <a:stretch>
            <a:fillRect/>
          </a:stretch>
        </p:blipFill>
        <p:spPr>
          <a:xfrm>
            <a:off x="6455664" y="2084832"/>
            <a:ext cx="1584198" cy="3520439"/>
          </a:xfrm>
          <a:prstGeom prst="rect">
            <a:avLst/>
          </a:prstGeom>
        </p:spPr>
      </p:pic>
      <p:sp>
        <p:nvSpPr>
          <p:cNvPr id="19" name="TextBox 18"/>
          <p:cNvSpPr txBox="1"/>
          <p:nvPr/>
        </p:nvSpPr>
        <p:spPr>
          <a:xfrm>
            <a:off x="6409944" y="5705856"/>
            <a:ext cx="167563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CHECKOUT</a:t>
            </a:r>
          </a:p>
        </p:txBody>
      </p:sp>
      <p:sp>
        <p:nvSpPr>
          <p:cNvPr id="20" name="Rounded Rectangle 19"/>
          <p:cNvSpPr/>
          <p:nvPr/>
        </p:nvSpPr>
        <p:spPr>
          <a:xfrm>
            <a:off x="8275320" y="2002536"/>
            <a:ext cx="1748789" cy="368503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15_order_confirmation.png"/>
          <p:cNvPicPr>
            <a:picLocks noChangeAspect="1"/>
          </p:cNvPicPr>
          <p:nvPr/>
        </p:nvPicPr>
        <p:blipFill>
          <a:blip r:embed="rId6"/>
          <a:stretch>
            <a:fillRect/>
          </a:stretch>
        </p:blipFill>
        <p:spPr>
          <a:xfrm>
            <a:off x="8357616" y="2084832"/>
            <a:ext cx="1584198" cy="3520439"/>
          </a:xfrm>
          <a:prstGeom prst="rect">
            <a:avLst/>
          </a:prstGeom>
        </p:spPr>
      </p:pic>
      <p:sp>
        <p:nvSpPr>
          <p:cNvPr id="22" name="TextBox 21"/>
          <p:cNvSpPr txBox="1"/>
          <p:nvPr/>
        </p:nvSpPr>
        <p:spPr>
          <a:xfrm>
            <a:off x="8311896" y="5705856"/>
            <a:ext cx="167563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CONFIRM</a:t>
            </a:r>
          </a:p>
        </p:txBody>
      </p:sp>
      <p:sp>
        <p:nvSpPr>
          <p:cNvPr id="23" name="Rounded Rectangle 22"/>
          <p:cNvSpPr/>
          <p:nvPr/>
        </p:nvSpPr>
        <p:spPr>
          <a:xfrm>
            <a:off x="10177272" y="2002536"/>
            <a:ext cx="1748789" cy="3685032"/>
          </a:xfrm>
          <a:prstGeom prst="roundRect">
            <a:avLst>
              <a:gd name="adj" fmla="val 12000"/>
            </a:avLst>
          </a:prstGeom>
          <a:solidFill>
            <a:srgbClr val="201714"/>
          </a:solidFill>
          <a:ln w="6350">
            <a:solidFill>
              <a:srgbClr val="2017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8_admin_dashboard.png"/>
          <p:cNvPicPr>
            <a:picLocks noChangeAspect="1"/>
          </p:cNvPicPr>
          <p:nvPr/>
        </p:nvPicPr>
        <p:blipFill>
          <a:blip r:embed="rId7"/>
          <a:stretch>
            <a:fillRect/>
          </a:stretch>
        </p:blipFill>
        <p:spPr>
          <a:xfrm>
            <a:off x="10259568" y="2084832"/>
            <a:ext cx="1584198" cy="3520439"/>
          </a:xfrm>
          <a:prstGeom prst="rect">
            <a:avLst/>
          </a:prstGeom>
        </p:spPr>
      </p:pic>
      <p:sp>
        <p:nvSpPr>
          <p:cNvPr id="25" name="TextBox 24"/>
          <p:cNvSpPr txBox="1"/>
          <p:nvPr/>
        </p:nvSpPr>
        <p:spPr>
          <a:xfrm>
            <a:off x="10213848" y="5705856"/>
            <a:ext cx="1675638" cy="274320"/>
          </a:xfrm>
          <a:prstGeom prst="rect">
            <a:avLst/>
          </a:prstGeom>
          <a:noFill/>
        </p:spPr>
        <p:txBody>
          <a:bodyPr wrap="square" lIns="0" rIns="0" tIns="0" bIns="0" anchor="t">
            <a:spAutoFit/>
          </a:bodyPr>
          <a:lstStyle/>
          <a:p>
            <a:pPr algn="ctr">
              <a:lnSpc>
                <a:spcPct val="100000"/>
              </a:lnSpc>
            </a:pPr>
            <a:r>
              <a:rPr sz="900" b="1">
                <a:solidFill>
                  <a:srgbClr val="71635D"/>
                </a:solidFill>
                <a:latin typeface="Aptos"/>
              </a:rPr>
              <a:t>ADMIN</a:t>
            </a:r>
          </a:p>
        </p:txBody>
      </p:sp>
      <p:sp>
        <p:nvSpPr>
          <p:cNvPr id="26" name="Rounded Rectangle 25"/>
          <p:cNvSpPr/>
          <p:nvPr/>
        </p:nvSpPr>
        <p:spPr>
          <a:xfrm>
            <a:off x="749808" y="5989320"/>
            <a:ext cx="10698480" cy="347472"/>
          </a:xfrm>
          <a:prstGeom prst="roundRect">
            <a:avLst>
              <a:gd name="adj" fmla="val 12000"/>
            </a:avLst>
          </a:prstGeom>
          <a:solidFill>
            <a:srgbClr val="FCE1D0"/>
          </a:solidFill>
          <a:ln w="12700">
            <a:solidFill>
              <a:srgbClr val="FCE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6080760"/>
            <a:ext cx="10241280" cy="146304"/>
          </a:xfrm>
          <a:prstGeom prst="rect">
            <a:avLst/>
          </a:prstGeom>
          <a:noFill/>
        </p:spPr>
        <p:txBody>
          <a:bodyPr wrap="square" lIns="0" rIns="0" tIns="0" bIns="0" anchor="t">
            <a:spAutoFit/>
          </a:bodyPr>
          <a:lstStyle/>
          <a:p>
            <a:pPr algn="ctr">
              <a:lnSpc>
                <a:spcPct val="100000"/>
              </a:lnSpc>
            </a:pPr>
            <a:r>
              <a:rPr sz="950" b="1">
                <a:solidFill>
                  <a:srgbClr val="CC3D05"/>
                </a:solidFill>
                <a:latin typeface="Aptos"/>
              </a:rPr>
              <a:t>Recovery narration: discovery → cart/checkout → confirmation → customer follow-up → administrator control</a:t>
            </a:r>
          </a:p>
        </p:txBody>
      </p:sp>
      <p:sp>
        <p:nvSpPr>
          <p:cNvPr id="28" name="TextBox 27"/>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BACKUP</a:t>
            </a:r>
          </a:p>
        </p:txBody>
      </p:sp>
      <p:sp>
        <p:nvSpPr>
          <p:cNvPr id="29" name="TextBox 28"/>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658368" y="402336"/>
            <a:ext cx="4572000" cy="292608"/>
          </a:xfrm>
          <a:prstGeom prst="rect">
            <a:avLst/>
          </a:prstGeom>
          <a:noFill/>
        </p:spPr>
        <p:txBody>
          <a:bodyPr wrap="square" lIns="0" rIns="0" tIns="0" bIns="0" anchor="t">
            <a:spAutoFit/>
          </a:bodyPr>
          <a:lstStyle/>
          <a:p>
            <a:pPr algn="l">
              <a:lnSpc>
                <a:spcPct val="100000"/>
              </a:lnSpc>
            </a:pPr>
            <a:r>
              <a:rPr sz="1000" b="1">
                <a:solidFill>
                  <a:srgbClr val="CC3D05"/>
                </a:solidFill>
                <a:latin typeface="Aptos"/>
              </a:rPr>
              <a:t>DO NOT PRESENT UNLESS ASKED</a:t>
            </a:r>
          </a:p>
        </p:txBody>
      </p:sp>
      <p:sp>
        <p:nvSpPr>
          <p:cNvPr id="3" name="TextBox 2"/>
          <p:cNvSpPr txBox="1"/>
          <p:nvPr/>
        </p:nvSpPr>
        <p:spPr>
          <a:xfrm>
            <a:off x="658368" y="749808"/>
            <a:ext cx="10881360" cy="621792"/>
          </a:xfrm>
          <a:prstGeom prst="rect">
            <a:avLst/>
          </a:prstGeom>
          <a:noFill/>
        </p:spPr>
        <p:txBody>
          <a:bodyPr wrap="square" lIns="0" rIns="0" tIns="0" bIns="0" anchor="t">
            <a:spAutoFit/>
          </a:bodyPr>
          <a:lstStyle/>
          <a:p>
            <a:pPr algn="l">
              <a:lnSpc>
                <a:spcPct val="100000"/>
              </a:lnSpc>
            </a:pPr>
            <a:r>
              <a:rPr sz="2700" b="1">
                <a:solidFill>
                  <a:srgbClr val="542819"/>
                </a:solidFill>
                <a:latin typeface="Aptos Display"/>
              </a:rPr>
              <a:t>Backup — database and verification evidence</a:t>
            </a:r>
          </a:p>
        </p:txBody>
      </p:sp>
      <p:sp>
        <p:nvSpPr>
          <p:cNvPr id="4" name="TextBox 3"/>
          <p:cNvSpPr txBox="1"/>
          <p:nvPr/>
        </p:nvSpPr>
        <p:spPr>
          <a:xfrm>
            <a:off x="676656" y="1353312"/>
            <a:ext cx="10241280" cy="347472"/>
          </a:xfrm>
          <a:prstGeom prst="rect">
            <a:avLst/>
          </a:prstGeom>
          <a:noFill/>
        </p:spPr>
        <p:txBody>
          <a:bodyPr wrap="square" lIns="0" rIns="0" tIns="0" bIns="0" anchor="t">
            <a:spAutoFit/>
          </a:bodyPr>
          <a:lstStyle/>
          <a:p>
            <a:pPr algn="l">
              <a:lnSpc>
                <a:spcPct val="100000"/>
              </a:lnSpc>
            </a:pPr>
            <a:r>
              <a:rPr sz="1200" b="0">
                <a:solidFill>
                  <a:srgbClr val="71635D"/>
                </a:solidFill>
                <a:latin typeface="Aptos"/>
              </a:rPr>
              <a:t>Use this slide for deeper architecture, privacy, or testing questions.</a:t>
            </a:r>
          </a:p>
        </p:txBody>
      </p:sp>
      <p:sp>
        <p:nvSpPr>
          <p:cNvPr id="5" name="Rectangle 4"/>
          <p:cNvSpPr/>
          <p:nvPr/>
        </p:nvSpPr>
        <p:spPr>
          <a:xfrm>
            <a:off x="676656" y="1755648"/>
            <a:ext cx="10835640" cy="22860"/>
          </a:xfrm>
          <a:prstGeom prst="rect">
            <a:avLst/>
          </a:prstGeom>
          <a:solidFill>
            <a:srgbClr val="E7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314432" y="393192"/>
            <a:ext cx="1170432" cy="329184"/>
          </a:xfrm>
          <a:prstGeom prst="roundRect">
            <a:avLst>
              <a:gd name="adj" fmla="val 12000"/>
            </a:avLst>
          </a:prstGeom>
          <a:solidFill>
            <a:srgbClr val="B42318"/>
          </a:solidFill>
          <a:ln>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69296" y="420623"/>
            <a:ext cx="1060704" cy="201168"/>
          </a:xfrm>
          <a:prstGeom prst="rect">
            <a:avLst/>
          </a:prstGeom>
          <a:noFill/>
        </p:spPr>
        <p:txBody>
          <a:bodyPr wrap="square" lIns="0" rIns="0" tIns="0" bIns="0" anchor="t">
            <a:spAutoFit/>
          </a:bodyPr>
          <a:lstStyle/>
          <a:p>
            <a:pPr algn="ctr">
              <a:lnSpc>
                <a:spcPct val="100000"/>
              </a:lnSpc>
            </a:pPr>
            <a:r>
              <a:rPr sz="900" b="1">
                <a:solidFill>
                  <a:srgbClr val="FFFFFF"/>
                </a:solidFill>
                <a:latin typeface="Aptos"/>
              </a:rPr>
              <a:t>BACKUP</a:t>
            </a:r>
          </a:p>
        </p:txBody>
      </p:sp>
      <p:sp>
        <p:nvSpPr>
          <p:cNvPr id="8" name="Rounded Rectangle 7"/>
          <p:cNvSpPr/>
          <p:nvPr/>
        </p:nvSpPr>
        <p:spPr>
          <a:xfrm>
            <a:off x="685800" y="2057400"/>
            <a:ext cx="7370064" cy="3950208"/>
          </a:xfrm>
          <a:prstGeom prst="roundRect">
            <a:avLst>
              <a:gd name="adj" fmla="val 12000"/>
            </a:avLst>
          </a:prstGeom>
          <a:solidFill>
            <a:srgbClr val="FFFFFF"/>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r_diagram.png"/>
          <p:cNvPicPr>
            <a:picLocks noChangeAspect="1"/>
          </p:cNvPicPr>
          <p:nvPr/>
        </p:nvPicPr>
        <p:blipFill>
          <a:blip r:embed="rId2"/>
          <a:stretch>
            <a:fillRect/>
          </a:stretch>
        </p:blipFill>
        <p:spPr>
          <a:xfrm>
            <a:off x="1446929" y="2212848"/>
            <a:ext cx="5847805" cy="3611880"/>
          </a:xfrm>
          <a:prstGeom prst="rect">
            <a:avLst/>
          </a:prstGeom>
        </p:spPr>
      </p:pic>
      <p:sp>
        <p:nvSpPr>
          <p:cNvPr id="10" name="Rounded Rectangle 9"/>
          <p:cNvSpPr/>
          <p:nvPr/>
        </p:nvSpPr>
        <p:spPr>
          <a:xfrm>
            <a:off x="8348472" y="2057400"/>
            <a:ext cx="3118104" cy="3950208"/>
          </a:xfrm>
          <a:prstGeom prst="roundRect">
            <a:avLst>
              <a:gd name="adj" fmla="val 12000"/>
            </a:avLst>
          </a:prstGeom>
          <a:solidFill>
            <a:srgbClr val="FFFCF8"/>
          </a:solidFill>
          <a:ln w="12700">
            <a:solidFill>
              <a:srgbClr val="E7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68512" y="2404872"/>
            <a:ext cx="2468880" cy="292608"/>
          </a:xfrm>
          <a:prstGeom prst="rect">
            <a:avLst/>
          </a:prstGeom>
          <a:noFill/>
        </p:spPr>
        <p:txBody>
          <a:bodyPr wrap="square" lIns="0" rIns="0" tIns="0" bIns="0" anchor="t">
            <a:spAutoFit/>
          </a:bodyPr>
          <a:lstStyle/>
          <a:p>
            <a:pPr algn="l">
              <a:lnSpc>
                <a:spcPct val="100000"/>
              </a:lnSpc>
            </a:pPr>
            <a:r>
              <a:rPr sz="1700" b="1">
                <a:solidFill>
                  <a:srgbClr val="542819"/>
                </a:solidFill>
                <a:latin typeface="Aptos"/>
              </a:rPr>
              <a:t>Evidence ready</a:t>
            </a:r>
          </a:p>
        </p:txBody>
      </p:sp>
      <p:sp>
        <p:nvSpPr>
          <p:cNvPr id="12" name="Oval 11"/>
          <p:cNvSpPr/>
          <p:nvPr/>
        </p:nvSpPr>
        <p:spPr>
          <a:xfrm>
            <a:off x="8677656" y="2971800"/>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2990088"/>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14" name="TextBox 13"/>
          <p:cNvSpPr txBox="1"/>
          <p:nvPr/>
        </p:nvSpPr>
        <p:spPr>
          <a:xfrm>
            <a:off x="9098280" y="2962656"/>
            <a:ext cx="1956816"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6 SQLite tables</a:t>
            </a:r>
          </a:p>
        </p:txBody>
      </p:sp>
      <p:sp>
        <p:nvSpPr>
          <p:cNvPr id="15" name="Oval 14"/>
          <p:cNvSpPr/>
          <p:nvPr/>
        </p:nvSpPr>
        <p:spPr>
          <a:xfrm>
            <a:off x="8677656" y="3529584"/>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3547872"/>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17" name="TextBox 16"/>
          <p:cNvSpPr txBox="1"/>
          <p:nvPr/>
        </p:nvSpPr>
        <p:spPr>
          <a:xfrm>
            <a:off x="9098280" y="3520440"/>
            <a:ext cx="1956816"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Foreign keys + constraints</a:t>
            </a:r>
          </a:p>
        </p:txBody>
      </p:sp>
      <p:sp>
        <p:nvSpPr>
          <p:cNvPr id="18" name="Oval 17"/>
          <p:cNvSpPr/>
          <p:nvPr/>
        </p:nvSpPr>
        <p:spPr>
          <a:xfrm>
            <a:off x="8677656" y="4087368"/>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4105655"/>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20" name="TextBox 19"/>
          <p:cNvSpPr txBox="1"/>
          <p:nvPr/>
        </p:nvSpPr>
        <p:spPr>
          <a:xfrm>
            <a:off x="9098280" y="4078224"/>
            <a:ext cx="1956816"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Versioned migrations</a:t>
            </a:r>
          </a:p>
        </p:txBody>
      </p:sp>
      <p:sp>
        <p:nvSpPr>
          <p:cNvPr id="21" name="Oval 20"/>
          <p:cNvSpPr/>
          <p:nvPr/>
        </p:nvSpPr>
        <p:spPr>
          <a:xfrm>
            <a:off x="8677656" y="4645152"/>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0" y="4663440"/>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23" name="TextBox 22"/>
          <p:cNvSpPr txBox="1"/>
          <p:nvPr/>
        </p:nvSpPr>
        <p:spPr>
          <a:xfrm>
            <a:off x="9098280" y="4636008"/>
            <a:ext cx="1956816"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Atomic place-order transaction</a:t>
            </a:r>
          </a:p>
        </p:txBody>
      </p:sp>
      <p:sp>
        <p:nvSpPr>
          <p:cNvPr id="24" name="Oval 23"/>
          <p:cNvSpPr/>
          <p:nvPr/>
        </p:nvSpPr>
        <p:spPr>
          <a:xfrm>
            <a:off x="8677656" y="5202936"/>
            <a:ext cx="292608" cy="292608"/>
          </a:xfrm>
          <a:prstGeom prst="ellipse">
            <a:avLst/>
          </a:prstGeom>
          <a:solidFill>
            <a:srgbClr val="218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0" y="5221224"/>
            <a:ext cx="274320" cy="201168"/>
          </a:xfrm>
          <a:prstGeom prst="rect">
            <a:avLst/>
          </a:prstGeom>
          <a:noFill/>
        </p:spPr>
        <p:txBody>
          <a:bodyPr wrap="square" lIns="0" rIns="0" tIns="0" bIns="0" anchor="t">
            <a:spAutoFit/>
          </a:bodyPr>
          <a:lstStyle/>
          <a:p>
            <a:pPr algn="ctr">
              <a:lnSpc>
                <a:spcPct val="100000"/>
              </a:lnSpc>
            </a:pPr>
            <a:r>
              <a:rPr sz="1100" b="1">
                <a:solidFill>
                  <a:srgbClr val="FFFFFF"/>
                </a:solidFill>
                <a:latin typeface="Aptos"/>
              </a:rPr>
              <a:t>✓</a:t>
            </a:r>
          </a:p>
        </p:txBody>
      </p:sp>
      <p:sp>
        <p:nvSpPr>
          <p:cNvPr id="26" name="TextBox 25"/>
          <p:cNvSpPr txBox="1"/>
          <p:nvPr/>
        </p:nvSpPr>
        <p:spPr>
          <a:xfrm>
            <a:off x="9098280" y="5193792"/>
            <a:ext cx="1956816" cy="393192"/>
          </a:xfrm>
          <a:prstGeom prst="rect">
            <a:avLst/>
          </a:prstGeom>
          <a:noFill/>
        </p:spPr>
        <p:txBody>
          <a:bodyPr wrap="square" lIns="0" rIns="0" tIns="0" bIns="0" anchor="t">
            <a:spAutoFit/>
          </a:bodyPr>
          <a:lstStyle/>
          <a:p>
            <a:pPr algn="l">
              <a:lnSpc>
                <a:spcPct val="100000"/>
              </a:lnSpc>
            </a:pPr>
            <a:r>
              <a:rPr sz="1200" b="0">
                <a:solidFill>
                  <a:srgbClr val="201714"/>
                </a:solidFill>
                <a:latin typeface="Aptos"/>
              </a:rPr>
              <a:t>No card credentials persisted</a:t>
            </a:r>
          </a:p>
        </p:txBody>
      </p:sp>
      <p:sp>
        <p:nvSpPr>
          <p:cNvPr id="27" name="TextBox 26"/>
          <p:cNvSpPr txBox="1"/>
          <p:nvPr/>
        </p:nvSpPr>
        <p:spPr>
          <a:xfrm>
            <a:off x="658368" y="6519672"/>
            <a:ext cx="6309360" cy="182880"/>
          </a:xfrm>
          <a:prstGeom prst="rect">
            <a:avLst/>
          </a:prstGeom>
          <a:noFill/>
        </p:spPr>
        <p:txBody>
          <a:bodyPr wrap="square" lIns="0" rIns="0" tIns="0" bIns="0" anchor="t">
            <a:spAutoFit/>
          </a:bodyPr>
          <a:lstStyle/>
          <a:p>
            <a:pPr algn="l">
              <a:lnSpc>
                <a:spcPct val="100000"/>
              </a:lnSpc>
            </a:pPr>
            <a:r>
              <a:rPr sz="800" b="1">
                <a:solidFill>
                  <a:srgbClr val="71635D"/>
                </a:solidFill>
                <a:latin typeface="Aptos"/>
              </a:rPr>
              <a:t>PUSL2023  •  VILLI’S CAFE  •  BACKUP</a:t>
            </a:r>
          </a:p>
        </p:txBody>
      </p:sp>
      <p:sp>
        <p:nvSpPr>
          <p:cNvPr id="28" name="TextBox 27"/>
          <p:cNvSpPr txBox="1"/>
          <p:nvPr/>
        </p:nvSpPr>
        <p:spPr>
          <a:xfrm>
            <a:off x="11064240" y="6473952"/>
            <a:ext cx="457200" cy="228600"/>
          </a:xfrm>
          <a:prstGeom prst="rect">
            <a:avLst/>
          </a:prstGeom>
          <a:noFill/>
        </p:spPr>
        <p:txBody>
          <a:bodyPr wrap="square" lIns="0" rIns="0" tIns="0" bIns="0" anchor="t">
            <a:spAutoFit/>
          </a:bodyPr>
          <a:lstStyle/>
          <a:p>
            <a:pPr algn="r">
              <a:lnSpc>
                <a:spcPct val="100000"/>
              </a:lnSpc>
            </a:pPr>
            <a:r>
              <a:rPr sz="900" b="1">
                <a:solidFill>
                  <a:srgbClr val="CC3D05"/>
                </a:solidFill>
                <a:latin typeface="Apto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Villi’s Cafe – Project Demonstration</dc:title>
  <dc:subject>PUSL2023 project demonstration and individual contribution</dc:subject>
  <dc:creator/>
  <cp:keywords>Flutter, Dart, SQLite, Provider, Android, café ordering</cp:keywords>
  <dc:description>15-minute deck with presenter notes and live-demo prompts.</dc:description>
  <cp:lastModifiedBy/>
  <cp:revision>1</cp:revision>
  <dcterms:created xsi:type="dcterms:W3CDTF">2026-08-25T00:00:00Z</dcterms:created>
  <dcterms:modified xsi:type="dcterms:W3CDTF">2026-08-25T00:00:00Z</dcterms:modified>
  <cp:category/>
</cp:coreProperties>
</file>